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90d1b507b4468f" /><Relationship Type="http://schemas.openxmlformats.org/officeDocument/2006/relationships/extended-properties" Target="/docProps/app.xml" Id="Re96ac8c2155145eb" /><Relationship Type="http://schemas.openxmlformats.org/officeDocument/2006/relationships/officeDocument" Target="/ppt/presentation.xml" Id="Rea7b8fc972fb4c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da4c07214a4fc5"/>
  </p:sldMasterIdLst>
  <p:notesMasterIdLst>
    <p:notesMasterId xmlns:r="http://schemas.openxmlformats.org/officeDocument/2006/relationships" r:id="R577e6874eacf48bb"/>
  </p:notesMasterIdLst>
  <p:sldIdLst>
    <p:sldId xmlns:r="http://schemas.openxmlformats.org/officeDocument/2006/relationships" id="256" r:id="R5f7cffe677134be6"/>
    <p:sldId xmlns:r="http://schemas.openxmlformats.org/officeDocument/2006/relationships" id="257" r:id="Rc1dcf5dc7fec4a1d"/>
    <p:sldId xmlns:r="http://schemas.openxmlformats.org/officeDocument/2006/relationships" id="258" r:id="Ra7eb9b978a3e4c14"/>
    <p:sldId xmlns:r="http://schemas.openxmlformats.org/officeDocument/2006/relationships" id="259" r:id="R202e04e064d44773"/>
    <p:sldId xmlns:r="http://schemas.openxmlformats.org/officeDocument/2006/relationships" id="260" r:id="R1e7b012933554dc8"/>
    <p:sldId xmlns:r="http://schemas.openxmlformats.org/officeDocument/2006/relationships" id="261" r:id="R1ea83a3a477e45a7"/>
    <p:sldId xmlns:r="http://schemas.openxmlformats.org/officeDocument/2006/relationships" id="262" r:id="R58ef54813b27436b"/>
    <p:sldId xmlns:r="http://schemas.openxmlformats.org/officeDocument/2006/relationships" id="263" r:id="Rc84bcfba4023414c"/>
    <p:sldId xmlns:r="http://schemas.openxmlformats.org/officeDocument/2006/relationships" id="264" r:id="Rb9f5cd10b6214d19"/>
    <p:sldId xmlns:r="http://schemas.openxmlformats.org/officeDocument/2006/relationships" id="265" r:id="Re180aa2899ac4aec"/>
    <p:sldId xmlns:r="http://schemas.openxmlformats.org/officeDocument/2006/relationships" id="266" r:id="Rbc398d50fdf34e08"/>
    <p:sldId xmlns:r="http://schemas.openxmlformats.org/officeDocument/2006/relationships" id="267" r:id="R9885949bad7543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238b9532c147db" /><Relationship Type="http://schemas.openxmlformats.org/officeDocument/2006/relationships/slideMaster" Target="/ppt/slideMasters/slideMaster1.xml" Id="Reada4c07214a4fc5" /><Relationship Type="http://schemas.openxmlformats.org/officeDocument/2006/relationships/notesMaster" Target="/ppt/notesMasters/notesMaster1.xml" Id="R577e6874eacf48bb" /><Relationship Type="http://schemas.openxmlformats.org/officeDocument/2006/relationships/presProps" Target="/ppt/presProps.xml" Id="R81618a73b49946b3" /><Relationship Type="http://schemas.openxmlformats.org/officeDocument/2006/relationships/viewProps" Target="/ppt/viewProps.xml" Id="Rc5b8217b359b41f7" /><Relationship Type="http://schemas.openxmlformats.org/officeDocument/2006/relationships/tableStyles" Target="/ppt/tableStyles.xml" Id="Re36a6205be484146" /><Relationship Type="http://schemas.openxmlformats.org/officeDocument/2006/relationships/slide" Target="/ppt/slides/slide1.xml" Id="R5f7cffe677134be6" /><Relationship Type="http://schemas.openxmlformats.org/officeDocument/2006/relationships/slide" Target="/ppt/slides/slide2.xml" Id="Rc1dcf5dc7fec4a1d" /><Relationship Type="http://schemas.openxmlformats.org/officeDocument/2006/relationships/slide" Target="/ppt/slides/slide3.xml" Id="Ra7eb9b978a3e4c14" /><Relationship Type="http://schemas.openxmlformats.org/officeDocument/2006/relationships/slide" Target="/ppt/slides/slide4.xml" Id="R202e04e064d44773" /><Relationship Type="http://schemas.openxmlformats.org/officeDocument/2006/relationships/slide" Target="/ppt/slides/slide5.xml" Id="R1e7b012933554dc8" /><Relationship Type="http://schemas.openxmlformats.org/officeDocument/2006/relationships/slide" Target="/ppt/slides/slide6.xml" Id="R1ea83a3a477e45a7" /><Relationship Type="http://schemas.openxmlformats.org/officeDocument/2006/relationships/slide" Target="/ppt/slides/slide7.xml" Id="R58ef54813b27436b" /><Relationship Type="http://schemas.openxmlformats.org/officeDocument/2006/relationships/slide" Target="/ppt/slides/slide8.xml" Id="Rc84bcfba4023414c" /><Relationship Type="http://schemas.openxmlformats.org/officeDocument/2006/relationships/slide" Target="/ppt/slides/slide9.xml" Id="Rb9f5cd10b6214d19" /><Relationship Type="http://schemas.openxmlformats.org/officeDocument/2006/relationships/slide" Target="/ppt/slides/slide10.xml" Id="Re180aa2899ac4aec" /><Relationship Type="http://schemas.openxmlformats.org/officeDocument/2006/relationships/slide" Target="/ppt/slides/slide11.xml" Id="Rbc398d50fdf34e08" /><Relationship Type="http://schemas.openxmlformats.org/officeDocument/2006/relationships/slide" Target="/ppt/slides/slide12.xml" Id="R9885949bad7543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9cac2a0c7149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7edf45fade4bd1" /><Relationship Type="http://schemas.openxmlformats.org/officeDocument/2006/relationships/notesMaster" Target="/ppt/notesMasters/notesMaster1.xml" Id="Rfe5d4b7863da48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8e2878542f414a" /><Relationship Type="http://schemas.openxmlformats.org/officeDocument/2006/relationships/notesMaster" Target="/ppt/notesMasters/notesMaster1.xml" Id="R81d944947f4648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0714a0f9ea406d" /><Relationship Type="http://schemas.openxmlformats.org/officeDocument/2006/relationships/notesMaster" Target="/ppt/notesMasters/notesMaster1.xml" Id="R01e2c18fd6f54b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2a7cadb29343af" /><Relationship Type="http://schemas.openxmlformats.org/officeDocument/2006/relationships/notesMaster" Target="/ppt/notesMasters/notesMaster1.xml" Id="Ra8843e16fe9348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97f7f836714cef" /><Relationship Type="http://schemas.openxmlformats.org/officeDocument/2006/relationships/notesMaster" Target="/ppt/notesMasters/notesMaster1.xml" Id="R1e4e6bc5188e4b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c3f1617c154cb1" /><Relationship Type="http://schemas.openxmlformats.org/officeDocument/2006/relationships/notesMaster" Target="/ppt/notesMasters/notesMaster1.xml" Id="R13a76adb482742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a252bd198f4fd9" /><Relationship Type="http://schemas.openxmlformats.org/officeDocument/2006/relationships/notesMaster" Target="/ppt/notesMasters/notesMaster1.xml" Id="R876536d4ed0044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ec86fb91b64459" /><Relationship Type="http://schemas.openxmlformats.org/officeDocument/2006/relationships/notesMaster" Target="/ppt/notesMasters/notesMaster1.xml" Id="Rcf81846d3a9045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e8763f2a23487e" /><Relationship Type="http://schemas.openxmlformats.org/officeDocument/2006/relationships/notesMaster" Target="/ppt/notesMasters/notesMaster1.xml" Id="R97f36b1c6a954d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81233b8b864b93" /><Relationship Type="http://schemas.openxmlformats.org/officeDocument/2006/relationships/notesMaster" Target="/ppt/notesMasters/notesMaster1.xml" Id="R73cd8603156843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00473b994842f5" /><Relationship Type="http://schemas.openxmlformats.org/officeDocument/2006/relationships/notesMaster" Target="/ppt/notesMasters/notesMaster1.xml" Id="Ra7dcddae836349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d7ced9e3ad421d" /><Relationship Type="http://schemas.openxmlformats.org/officeDocument/2006/relationships/notesMaster" Target="/ppt/notesMasters/notesMaster1.xml" Id="R1cbdc9bcfbd64e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开场说明项目边界：这里评估 UGC 数据在使用过程中的风险；内容真实性与生成来源由独立流程核验。全套材料的数字均可回到运行产物与哈希清单。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https://www.xyxzds.com/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本页将评审关注点收束到三个可检验维度：证据完整度、信号区分度和动作记录完整度。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docs/03_ALGORITHM_AND_METHODS.md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https://www.iso.org/standard/81088.html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边界说明用于控制结论范围。项目输出风险分层与证据覆盖情况，平台或研究者结合业务规则完成最终判断。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  <a:p xmlns:a="http://schemas.openxmlformats.org/drawingml/2006/main">
            <a:r>
              <a:t>- https://www.cac.gov.cn/2025-03/14/c_1743654684782215.htm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五类特征分别对应来源、行为、内容、跨来源与时间结构，均可在护照与审计记录中回溯。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src/trustdata/features.py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docs/03_ALGORITHM_AND_METHODS.md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本页展示评分设计的可解释性：场景差异通过显式权重呈现。实际应用时，权重需要在目标平台上以历史标注和误报成本校准。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configs/trust.yaml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数据清单区分公开来源与受控基准。受控污染属于方法验证标签，用于检验系统对已知扰动的敏感性；平台真实标注将在试点阶段获取。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docs/02_DATA_ASSETS.md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outputs/runs/latest/run_manifest.json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评测设置同时覆盖分类、概率校准、排序与分组切分敏感性。阈值依据清洁样本的误报约束确定。五次复算共享同一受控基准，检验贡献者分组变化带来的波动。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src/trustdata/evaluation.py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outputs/runs/latest/classification_metrics.csv</a:t>
            </a:r>
          </a:p>
          <a:p xmlns:a="http://schemas.openxmlformats.org/drawingml/2006/main">
            <a:r>
              <a:t>- Internal evidence: outputs/runs/latest/split_sensitivity_summary.csv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图中报告受控污染基准结果。30% 水平的 Precision 0.9923、Recall 0.6018、F1 0.7492、AUPRC 0.9490、FPR 0.00173 来自主运行产物；五次贡献者分组复算的 F1 中位数为 0.7515，范围为 0.7443—0.7644。真实平台效果将在试点数据上独立评估。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competition/evidence/figures/risk_detection_by_contamination.png</a:t>
            </a:r>
          </a:p>
          <a:p xmlns:a="http://schemas.openxmlformats.org/drawingml/2006/main">
            <a:r>
              <a:t>- Internal evidence: competition/evidence/results/classification_metrics.csv</a:t>
            </a:r>
          </a:p>
          <a:p xmlns:a="http://schemas.openxmlformats.org/drawingml/2006/main">
            <a:r>
              <a:t>- Internal evidence: competition/evidence/results/split_sensitivity_summary.csv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平均排名误差与 Top-100 保留率分别报告。30% 污染下，原始平均排名误差为 20.3960，加权后为 15.2335，下降 25.31%；Spearman ρ 为 0.994，Top-100 overlap 为 0.70。加权排序在 20%—30% 污染下降低平均名次误差，在 5%—30% 污染下提高 Top-100 保留率；1% 污染下两项指标均下降，因此采用监测与人工复核策略。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competition/evidence/figures/ranking_robustness.png</a:t>
            </a:r>
          </a:p>
          <a:p xmlns:a="http://schemas.openxmlformats.org/drawingml/2006/main">
            <a:r>
              <a:t>- Internal evidence: competition/evidence/results/ranking_metrics.csv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演示时从总览进入单条护照，再进入风险队列与审计视图。该路径展示结论、证据与处置记录之间的对应关系。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product/index.html</a:t>
            </a:r>
          </a:p>
          <a:p xmlns:a="http://schemas.openxmlformats.org/drawingml/2006/main">
            <a:r>
              <a:t>- Internal evidence: product/app.js</a:t>
            </a:r>
          </a:p>
          <a:p xmlns:a="http://schemas.openxmlformats.org/drawingml/2006/main">
            <a:r>
              <a:t>- Internal evidence: docs/06_PRODUCT_AND_ARCHITECTURE.md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这页把当前成果与下一步区分开。当前基准验证已经形成可复核证据；真实平台试点需要合作方提供标注与影子运行环境。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结尾回到可验证性和下一步。受控基准结果按 E2 证据等级表述；讨论重点转向真实标注与试点条件。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docs/07_REPRODUCIBILITY_AND_EVIDENCE.md</a:t>
            </a:r>
          </a:p>
          <a:p xmlns:a="http://schemas.openxmlformats.org/drawingml/2006/main">
            <a:r>
              <a:t>- https://jw.nju.edu.cn/d9/36/c26263a842038/page.htm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c58f3465d4a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1868a2afb24717" /><Relationship Type="http://schemas.openxmlformats.org/officeDocument/2006/relationships/slideLayout" Target="/ppt/slideLayouts/slideLayout1.xml" Id="R499e5cfb539849f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9e5cfb539849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da718ec6146ab" /><Relationship Type="http://schemas.openxmlformats.org/officeDocument/2006/relationships/notesSlide" Target="/ppt/notesSlides/notesSlide1.xml" Id="R5c7e63f2cb1e44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07548a54542ef" /><Relationship Type="http://schemas.openxmlformats.org/officeDocument/2006/relationships/notesSlide" Target="/ppt/notesSlides/notesSlide2.xml" Id="Re1a9a826f7cb40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e82c9cb0e408b" /><Relationship Type="http://schemas.openxmlformats.org/officeDocument/2006/relationships/notesSlide" Target="/ppt/notesSlides/notesSlide3.xml" Id="R39635678d2514a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08b284bdd4a7a" /><Relationship Type="http://schemas.openxmlformats.org/officeDocument/2006/relationships/notesSlide" Target="/ppt/notesSlides/notesSlide4.xml" Id="R9020d2b325d546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9f871491a4b14" /><Relationship Type="http://schemas.openxmlformats.org/officeDocument/2006/relationships/notesSlide" Target="/ppt/notesSlides/notesSlide5.xml" Id="R4d4f22596f7646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e715c14f3429d" /><Relationship Type="http://schemas.openxmlformats.org/officeDocument/2006/relationships/notesSlide" Target="/ppt/notesSlides/notesSlide6.xml" Id="Re31ce3bd232e4c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ea0765d054f96" /><Relationship Type="http://schemas.openxmlformats.org/officeDocument/2006/relationships/notesSlide" Target="/ppt/notesSlides/notesSlide7.xml" Id="R3eb79596a2714b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0776ae35f4a4f" /><Relationship Type="http://schemas.openxmlformats.org/officeDocument/2006/relationships/image" Target="/ppt/media/image.png" Id="R4132c619f3114f2c" /><Relationship Type="http://schemas.openxmlformats.org/officeDocument/2006/relationships/notesSlide" Target="/ppt/notesSlides/notesSlide8.xml" Id="Rdc1981e10ea541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891881c9d49a6" /><Relationship Type="http://schemas.openxmlformats.org/officeDocument/2006/relationships/image" Target="/ppt/media/image2.png" Id="R86ccb9034e1f40f0" /><Relationship Type="http://schemas.openxmlformats.org/officeDocument/2006/relationships/notesSlide" Target="/ppt/notesSlides/notesSlide9.xml" Id="R222daf86d81b49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da41d0c374dd0" /><Relationship Type="http://schemas.openxmlformats.org/officeDocument/2006/relationships/notesSlide" Target="/ppt/notesSlides/notesSlide10.xml" Id="Rb1b0a272fb7c47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b2298eff346d7" /><Relationship Type="http://schemas.openxmlformats.org/officeDocument/2006/relationships/notesSlide" Target="/ppt/notesSlides/notesSlide11.xml" Id="R84783bfc634f427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f3eb2b6394229" /><Relationship Type="http://schemas.openxmlformats.org/officeDocument/2006/relationships/notesSlide" Target="/ppt/notesSlides/notesSlide12.xml" Id="Rfbb8bdd181eb4e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57BCFD1-B1FC-4DAB-A152-DF7D1B81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C2D772-7A5C-403A-896D-6D199CD0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895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3A74779-6C97-4ADB-AF2D-3D1A30B0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" y="843280"/>
            <a:ext cx="9661525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TrustData</a:t>
            </a:r>
            <a:r>
              <a: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：</a:t>
            </a:r>
            <a:r>
              <a:rPr sz="4500"/>
              <a:t>面向众包内容平台的用户评价数据可信评估与分级系统</a:t>
            </a:r>
            <a:endParaRPr sz="4500" b="1">
              <a:solidFill>
                <a:srgbClr val="18342F"/>
              </a:solidFill>
            </a:endParaRPr>
          </a:p>
          <a:p xmlns:a="http://schemas.openxmlformats.org/drawingml/2006/main">
            <a:pPr algn="l">
              <a:lnSpc>
                <a:spcPct val="108000"/>
              </a:lnSpc>
              <a:buNone/>
              <a:def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endParaRPr sz="45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6F6103-6A65-40FD-B342-6142BB0A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0575"/>
            <a:ext cx="6085205" cy="459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5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--</a:t>
            </a:r>
            <a:r>
              <a:rPr sz="25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UGC 数据使用风险的可解释评估与分级</a:t>
            </a:r>
            <a:endParaRPr sz="25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79E7166-8B34-4A5E-B35C-EE555577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新域新质创新大赛｜项目路演稿</a:t>
            </a:r>
            <a:endParaRPr sz="150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07F631A-67FC-4B11-B2AC-3A19A9EF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800" b="0">
                <a:solidFill>
                  <a:srgbClr val="477A68"/>
                </a:solidFill>
                <a:latin typeface="宋体"/>
                <a:ea typeface="宋体"/>
                <a:cs typeface="宋体"/>
              </a:rPr>
              <a:t>以可复核证据连接数据、模型与处置</a:t>
            </a:r>
            <a:endParaRPr sz="1800" b="0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458CF91C-7239-4FF2-851F-EC642EDF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51985DE-2F80-4006-877C-D3AD704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35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南京大学本科生项目组</a:t>
            </a:r>
            <a:endParaRPr sz="135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2AAD90B-C4D9-4838-A99A-AC836383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TECHNICAL PRESENTATION</a:t>
            </a:r>
            <a:endParaRPr sz="1275" b="0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C374801-A3CF-4439-B152-C0687B85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15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7A7F560-9CE1-4293-828A-94801970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305300"/>
            <a:ext cx="152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1A29B5B-9DB4-4924-BA30-0AF01894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114800"/>
            <a:ext cx="152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7750A60-6254-458F-B9E9-88D2E6E9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924300"/>
            <a:ext cx="152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95CDA59-837D-436B-8F54-4E27891D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733800"/>
            <a:ext cx="1524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A5D8271-5A33-434F-84E5-F03EBD4F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8705" y="249301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DATA USE RISK</a:t>
            </a:r>
            <a:endParaRPr sz="127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EVIDENCE / CONTROL / TRACEABILITY</a:t>
            </a:r>
            <a:endParaRPr sz="127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11542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EBA07E8-4095-4064-8B89-83877D2F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5DF8E75-4F70-42AC-8A68-A45F5879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E77F401-050B-4D81-913A-CF14ABF2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核心问题：数据如何使用，依据如何说明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747169E-6E92-456B-9A96-64795B8C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F1AA584-57DF-4FE7-90B4-21ECD500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UGC 进入分析、推荐与运营流程后，风险常以局部信号出现：</a:t>
            </a:r>
            <a:endParaRPr sz="165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411AB8BA-7878-4C72-A3F9-BF721C72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AB6FEC3-1A44-4031-8A52-15F5DBAA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来源与授权记录不完整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8AE29EB-D0D7-4DD9-9F59-F9FBBA5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9843F64-D657-47F7-B256-C37F9F4E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异常行为被平均值掩盖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E0EF22EC-3718-4101-BDC2-693938BB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DEC5734-F213-4B5E-B0C9-8D0C900E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高风险样本缺少处置依据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55E83E9-F2FB-4AC5-8B49-BAB19E30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478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证据链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106A16B-E4FB-401C-8710-E8559E7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EEBA0B8-02C3-4EEA-A94C-B70941B0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数据资产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直接连接符 14">
            <a:extLst xmlns:a="http://schemas.openxmlformats.org/drawingml/2006/main">
              <a:ext uri="{FF2B5EF4-FFF2-40B4-BE49-F238E27FC236}">
                <a16:creationId xmlns:a16="http://schemas.microsoft.com/office/drawing/2014/main" id="{A68FC61A-47DE-4B7E-A404-6EF7DB70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F0C77F7-E6C6-4254-91A8-AD3CAC9E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40E8EB9-ED01-4E1F-A2B6-1264C03C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特征证据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直接连接符 17">
            <a:extLst xmlns:a="http://schemas.openxmlformats.org/drawingml/2006/main">
              <a:ext uri="{FF2B5EF4-FFF2-40B4-BE49-F238E27FC236}">
                <a16:creationId xmlns:a16="http://schemas.microsoft.com/office/drawing/2014/main" id="{1EBCA6F5-567C-454F-AAC0-BDA9DCFF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636B5F7-194E-42E2-B2DA-0A268700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78AF296-43E8-418C-8AB2-D58E3E1D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分级结果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直接连接符 20">
            <a:extLst xmlns:a="http://schemas.openxmlformats.org/drawingml/2006/main">
              <a:ext uri="{FF2B5EF4-FFF2-40B4-BE49-F238E27FC236}">
                <a16:creationId xmlns:a16="http://schemas.microsoft.com/office/drawing/2014/main" id="{FA7953C2-3770-4C79-8EA3-D85BBEFF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38026FC-421E-4DBA-A4D3-F4A3F3E4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B3FAC121-9FD1-4FE7-850F-291A52BC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处置记录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CBA2F9D-9CF8-42D8-82F6-B8B4BBFD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725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可复核的判断，才可进入业务流程。</a:t>
            </a:r>
            <a:endParaRPr sz="1725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8962693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6C9FB28-26FB-4B5E-A5DE-FC1AD818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2C379FC-EE4A-4645-B3F4-93E9AAAE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A8CA33A-88A7-4C96-A6DE-3311BE3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项目边界：数据使用风险评估与独立核验流程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01A77887-E9F3-49A6-A660-F15718E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90140F-42EE-468F-95BD-6BE816B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当前版本回答三个问题</a:t>
            </a:r>
            <a:endParaRPr sz="150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48A9AF0-E50B-4E6E-939B-C953F949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01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C178732-1561-4FA7-BF62-032EE57C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527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来源与过程证据的可用程度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59A2837D-E937-4FC5-89C6-D4B957C5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051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70EE3DA-476A-486C-807D-154BE52C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3682DD-774D-4867-84E4-F8F508E5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异常信号的跨时间、主体与来源一致程度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AC7DA7DF-ABC7-44C3-94D8-99DDDFD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657721F-FFBF-4D99-92E2-E0413EE0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9615FCD-6E2B-4652-923A-60A56559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不同风险水平对应的复核动作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4D1BA6BD-2FC3-4B6F-AB48-153EAF32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910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085BE3-62AF-4C6B-9E2A-F398BADC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38350"/>
            <a:ext cx="3810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66FC9D4-9D63-4FF2-A53D-28B6647B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9B5C55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9B5C55"/>
                </a:solidFill>
                <a:latin typeface="宋体"/>
                <a:ea typeface="宋体"/>
                <a:cs typeface="宋体"/>
              </a:rPr>
              <a:t>由独立流程承担</a:t>
            </a:r>
            <a:endParaRPr sz="1575" b="1">
              <a:solidFill>
                <a:srgbClr val="9B5C55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6BC3AB5-B02D-43D9-B2B4-09F77FEE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146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内容真实性核验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生成来源判别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平台线上自动拦截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法律责任认定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C3EE12D-0C3C-4F3C-974E-FE9EC88B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054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边界清楚，结论才可被正确使用。</a:t>
            </a:r>
            <a:endParaRPr sz="1575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111382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884F86CB-1A1C-4AAD-B4B3-891B1CB9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94240FD-8B96-4D61-A8DC-020BBFC7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04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FF2150-BBE9-46AD-8530-AFA4D0B3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五类证据进入同一条可解释评分链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53BB69C7-111B-4B9E-8434-01B708D7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椭圆 4">
            <a:extLst xmlns:a="http://schemas.openxmlformats.org/drawingml/2006/main">
              <a:ext uri="{FF2B5EF4-FFF2-40B4-BE49-F238E27FC236}">
                <a16:creationId xmlns:a16="http://schemas.microsoft.com/office/drawing/2014/main" id="{6CC91AD8-D09A-4916-8C92-D1A0BD03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6838D8B-6B3D-44A9-B5B5-61C6C05F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P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来源完整性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FAAE5EDD-4D55-4B8C-A623-1E7C7F37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0A4A3296-67CC-462E-95EF-8A00C842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solidFill>
              <a:srgbClr val="203B4A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B3FB50-D5A7-467F-AE42-A3E35FFF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B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行为稳定性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B401C391-F92E-439B-AA22-D571B90D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1" name="椭圆 10">
            <a:extLst xmlns:a="http://schemas.openxmlformats.org/drawingml/2006/main">
              <a:ext uri="{FF2B5EF4-FFF2-40B4-BE49-F238E27FC236}">
                <a16:creationId xmlns:a16="http://schemas.microsoft.com/office/drawing/2014/main" id="{60C7970A-DD96-4E60-BFB1-88AF50FE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02BCDC4-3D90-4BEA-9B4B-1F399E63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C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内容相似性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50E946ED-26FE-4193-8655-5C2E2E55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4" name="椭圆 13">
            <a:extLst xmlns:a="http://schemas.openxmlformats.org/drawingml/2006/main">
              <a:ext uri="{FF2B5EF4-FFF2-40B4-BE49-F238E27FC236}">
                <a16:creationId xmlns:a16="http://schemas.microsoft.com/office/drawing/2014/main" id="{339503F8-8BE0-4EF1-803E-BE351AEF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EAAA674-C9AC-471F-B9E3-F8533000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X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跨源一致性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94EDB8B1-F6B7-4685-B33A-BC378BC4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椭圆 16">
            <a:extLst xmlns:a="http://schemas.openxmlformats.org/drawingml/2006/main">
              <a:ext uri="{FF2B5EF4-FFF2-40B4-BE49-F238E27FC236}">
                <a16:creationId xmlns:a16="http://schemas.microsoft.com/office/drawing/2014/main" id="{F0947732-CBB5-46B7-A27A-A2B76BAC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F615D72-DEF6-4311-BE2D-78002EAC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T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时间结构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5FD0B89-3004-4D2D-8557-AA24AD1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27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证据向量</a:t>
            </a:r>
            <a:endParaRPr sz="127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353AC26-5AE6-4C9D-B730-987CD0CA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 / B / C / X / T  →  场景权重  →  DTS  →  置信度与动作</a:t>
            </a:r>
            <a:endParaRPr sz="210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693E3F4-7914-4662-AC72-1DF365DC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不同场景使用不同权重；每条结果保留证据覆盖、风险等级与复核建议。</a:t>
            </a:r>
            <a:endParaRPr sz="15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6195200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B4927327-224A-4526-B326-9F6A3B44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50687A-58C7-4E39-9DBD-79258035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05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64C1708-4EA7-4574-BEB8-D5CAC24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场景化 DTS：同一份数据，在不同任务中有不同风险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CF83595B-DD1B-4134-9808-63E1F283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6F4C5CD-9C47-4813-9D69-A702EB8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DTS = Σ wₖ·Eₖ</a:t>
            </a:r>
            <a:endParaRPr sz="270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68C27C5-51B4-4FBC-A59E-408EDD12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权重向量随任务切换，证据项保持一致。</a:t>
            </a:r>
            <a:endParaRPr sz="15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45DA57D-5F49-45DA-95CD-4C700A0C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研究分析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6A951A4-9068-44FB-BA4D-FDB4B1E2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55E9244-AE96-4016-BFB5-325DEB93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BD465E7-3765-415B-B04B-B832D150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11930"/>
            <a:ext cx="17145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E34E5B9-6060-4DF5-B370-29A1852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EACCA8B-4662-4C45-B3DD-67E78D50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0EAF119-2825-4756-9295-ADB98280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0.28  0.16  0.24  0.18  0.14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28930FA-C308-4377-AB78-A4A097B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内容分发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A459A6C-4811-4AEF-9482-CEE19C3A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5B9140-6265-491C-BDE2-56DC6348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3B6D661-807B-4153-B850-F69F4C52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B8A787A-3DA6-4212-9AAF-2D271C90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01F50F2-9983-4666-BBE7-FE539B0E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7578A46-57A7-40B1-816A-C8CC6576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0.14  0.28  0.20  0.16  0.22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9480D5D-8C79-4890-8C6B-11DFAB42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运营决策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88CC6B1-7536-4563-A225-0E724306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E3AAE1D-8E09-4B29-93B7-EFD6D9A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DDF83E2-927B-47A3-BE16-A911C730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66B3D40-EC6C-4642-8F68-B3F83356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941445"/>
            <a:ext cx="171450" cy="916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A8F3182-CAA4-4ABB-B290-B242A5F9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E3B65081-31AC-4ADE-86D7-7C3E998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0.20  0.22  0.18  0.26  0.14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75727CF-184D-496C-A9C7-5C15F7DD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权重表达证据在特定使用场景中的相对重要性。</a:t>
            </a:r>
            <a:endParaRPr sz="16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4512626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0AF9F27-5DD3-4BB7-9E87-0C493FD7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02B1C38-FA1B-404D-92FA-C23B076E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06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19180F5-D5AD-47B6-9863-D275D1D6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数据资产：可追溯的公开样本 + 受控污染基准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F45D9E7E-DAE0-4F1E-8FD3-EE04AB46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7AB4CC0-7832-4F79-A06E-064F50C1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208,615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716560F-1624-492D-83F6-E31DCFDD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原始观测记录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D35CCBEB-F2D7-4533-B308-BBC007F3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72BF48C-5E2A-4902-BC53-81F80F36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4,102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677865C-9E48-46EF-AEF4-8D1A1845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跨源对齐实体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D6250C43-5C19-4FD3-90BA-DE0BDA23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5A122ED-97B7-4CA7-99A9-9936F112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30,000</a:t>
            </a:r>
            <a:endParaRPr sz="285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32A9C38-1E15-4C29-88C1-A79836B3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受控注入样本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4C353E75-1618-420B-92EF-5BDB5DD4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C93FFE7-B525-4B25-AFDD-5344E146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18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B7EEE9C-7312-4FD8-850C-F414BE3D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输入/输出哈希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3F8FC88C-E741-484A-AEEA-95B30AE0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5C4438B-7E4F-4C87-BE56-E7A2D166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公开样本</a:t>
            </a:r>
            <a:endParaRPr sz="142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FC4639E-9401-4339-9DE0-46603A70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AOTY / Metacritic 历史评分、AOTY Top 5000、RYM Top 5000、已发布评论摘录</a:t>
            </a:r>
            <a:endParaRPr sz="157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86C4452-8326-4438-B625-C7CFD9DE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基准样本</a:t>
            </a:r>
            <a:endParaRPr sz="1425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A6A3AA6-25DA-4105-8008-868FE545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行为操纵、协同行为、重复内容、时间突发、来源缺失；全部标记为 synthetic，仅用于评测</a:t>
            </a:r>
            <a:endParaRPr sz="157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4065182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FA5C0BD-7282-49E0-8844-E169EB73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398C12-6C0B-48E7-A80F-9ADDAC28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07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5EFEAB4-756A-4E9C-9087-5675C9E3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评测设计：把“变差多少”变成可重复的实验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ACCA83D1-2821-404F-9F2B-0BDF9774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48F9531-5019-4D36-ACF1-715824D0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污染比例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F18870D9-9B77-4A84-A104-136C6D8C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A7D0BC3-7BF3-46A7-82CA-754C18D8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0FD1A776-F5A8-4948-BF8E-ABB7F958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椭圆 8">
            <a:extLst xmlns:a="http://schemas.openxmlformats.org/drawingml/2006/main">
              <a:ext uri="{FF2B5EF4-FFF2-40B4-BE49-F238E27FC236}">
                <a16:creationId xmlns:a16="http://schemas.microsoft.com/office/drawing/2014/main" id="{373537B1-910E-4A1E-979A-56590F9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8CE53B4-13FD-4167-A575-6027747B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5%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C6C9548E-FF7D-426E-B55D-7A7626E6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A2C34220-814E-4F50-B10A-EAAAC27F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376B1CF-34B1-4EC3-AA2D-CBC81EE9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6D1183-996B-4E7E-86D5-4DD1D39D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A6E4C1F9-F574-4107-835E-22C15FE8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8089035-D27C-4F90-98CF-78BB4A64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20%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22F05DEF-8B4C-4F60-B0D8-914765F4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4F7234BA-76DB-4A79-98CA-57950695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A2BB6D4-C286-44EB-A105-16C75BC8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30%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8CC6EFF-F587-4882-80F2-99A44319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分组约束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031F9FE-924B-4665-9CF6-D879C964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贡献者分组切分，5 个预设种子复算；每次训练、验证与测试均保持主体隔离。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6977890-8177-4BE8-92D3-57273165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判定约束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06AD59E-9750-4D25-B9FA-8F9D2CD1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阈值按清洁样本 FPR ≤ 1% 选择；同时报告 Brier、ECE、AUROC、AUPRC 与排序稳定性。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8400193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9176E35-0E6C-4F7F-A7F3-AC1105A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093F5E1-A917-4EA5-88C0-D9605093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08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2C3566A-BE26-436A-97D1-C80463B6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4540"/>
            <a:ext cx="11163300" cy="827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检测性能：污染越强，分层识别越稳定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7A1C4DF-195B-444B-8CCF-99F69506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6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2c619f3114f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57250" y="2023051"/>
            <a:ext cx="6667500" cy="3821548"/>
          </a:xfrm>
          <a:prstGeom xmlns:a="http://schemas.openxmlformats.org/drawingml/2006/main" prst="rect">
            <a:avLst/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26CDEB3-94B1-445A-8E20-506EDAB5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30% 污染</a:t>
            </a:r>
            <a:endParaRPr sz="135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037D011-A8BA-41B3-A272-76A9AC22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precision  0.992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recall     0.602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F1         0.749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AUPRC      0.949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2A94C28C-3BE1-417F-89B8-C0994D28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010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97705A4-3A97-4476-8793-1C5A415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14900"/>
            <a:ext cx="3369310" cy="10496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5 次分组复算：F1 0.744–0.764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主运行 FPR：0.17%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3796766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38902EA-A796-42C0-BE14-918FE37A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BCFB92E-4931-49BC-A473-9FADAEA2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09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BCEF1B3-8E5D-4970-B785-64B2F365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排序权衡：中高污染改善，低污染优先监测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2F3ED74-7F7C-4D8D-9E32-C7B2361A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5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cb9034e1f40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38200" y="2281985"/>
            <a:ext cx="6572250" cy="3132229"/>
          </a:xfrm>
          <a:prstGeom xmlns:a="http://schemas.openxmlformats.org/drawingml/2006/main" prst="rect">
            <a:avLst/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A31D2A2-7F92-4A3C-86B3-3794ED39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30% 污染时</a:t>
            </a:r>
            <a:endParaRPr sz="135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15D0685-ABAB-461C-A080-68F627E3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Spearman ρ  0.994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Top-100 overlap  0.70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MRE reduction  25.3%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2DCDBBD-0652-406D-AA7F-1990D44D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62450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20%–30% 降低平均排名误差；5%–30% 提高 Top-100 保留率。1% 场景进入监测与人工复核。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7937362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B5F526EF-2803-4092-A414-698802B1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0F460FA-3B3B-4331-A985-8EE22B4C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292F11B-6DCB-44BE-9BE6-C35F048C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产品交付：从总览到单条记录的审计路径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930A185-8C89-4442-9E2F-742FABE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椭圆 4">
            <a:extLst xmlns:a="http://schemas.openxmlformats.org/drawingml/2006/main">
              <a:ext uri="{FF2B5EF4-FFF2-40B4-BE49-F238E27FC236}">
                <a16:creationId xmlns:a16="http://schemas.microsoft.com/office/drawing/2014/main" id="{3EF2590C-5D2E-4384-A6A5-22E77DF1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B1EC9A1-2072-44D0-82F3-BC59069C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68F20AD-1454-48DD-AD31-7FE49777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总览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Overview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36DB5F22-326B-4344-9A57-2332422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椭圆 8">
            <a:extLst xmlns:a="http://schemas.openxmlformats.org/drawingml/2006/main">
              <a:ext uri="{FF2B5EF4-FFF2-40B4-BE49-F238E27FC236}">
                <a16:creationId xmlns:a16="http://schemas.microsoft.com/office/drawing/2014/main" id="{F1B857D0-738B-4748-867C-C1A62788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A628D8F-6A67-46F2-A3C3-6F4FFE89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C9617FE-6FC3-44D4-ADB2-3DEB0865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护照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Passport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6BF98D9E-F250-4175-A157-61421BC6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3" name="椭圆 12">
            <a:extLst xmlns:a="http://schemas.openxmlformats.org/drawingml/2006/main">
              <a:ext uri="{FF2B5EF4-FFF2-40B4-BE49-F238E27FC236}">
                <a16:creationId xmlns:a16="http://schemas.microsoft.com/office/drawing/2014/main" id="{2CA1C77F-9380-483A-B252-9081A43F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B8BDE9C-2DCF-4030-B217-4BF624BB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2B6DC4D-960B-4518-A8AE-6FFBCE3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风险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Risk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DA387FAB-560F-4E51-8C84-9030004F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椭圆 16">
            <a:extLst xmlns:a="http://schemas.openxmlformats.org/drawingml/2006/main">
              <a:ext uri="{FF2B5EF4-FFF2-40B4-BE49-F238E27FC236}">
                <a16:creationId xmlns:a16="http://schemas.microsoft.com/office/drawing/2014/main" id="{2F5C8F9F-3AA7-4182-98A7-4EE5B0E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1A697756-2C9C-4B5B-A956-7FC5AFD6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428EBB8A-F9FE-4BFF-A611-6E66E95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队列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Queue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F00870A5-EFA6-4183-A6E7-482C5634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21" name="椭圆 20">
            <a:extLst xmlns:a="http://schemas.openxmlformats.org/drawingml/2006/main">
              <a:ext uri="{FF2B5EF4-FFF2-40B4-BE49-F238E27FC236}">
                <a16:creationId xmlns:a16="http://schemas.microsoft.com/office/drawing/2014/main" id="{C6C5F6D3-2A37-4946-A253-9FAE96F6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86C94A0-FE73-438D-9BF1-9CC21E01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4E02805-F24A-45B1-AE26-0932581B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审计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Audit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8D20A56-249F-45D4-A4DF-304FA0B0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950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每一步都保留来源、特征覆盖、等级、动作与哈希。</a:t>
            </a:r>
            <a:endParaRPr sz="1950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D6FAD6B-C7AD-42F6-8824-13569ED2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889615" cy="76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当前交付为可离线运行的静态产品原型，读取 app/data/dashboard.json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，且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已有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product/dashboard-data.js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时可以直接打开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product/index.html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。</a:t>
            </a:r>
            <a:endParaRPr sz="150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909806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4E01B62-0C55-47A7-8F9B-5AF06B5E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3C75F6D-FF64-454E-B49D-92A9CBF0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6666439-6D76-447F-BA05-4DB049E9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从基准验证走向平台试点：四步转换路径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1061597C-8089-4258-8BC9-6BA6B9AC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7279080-C089-43C8-AB03-B9F30382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178E61-1C91-460C-90A4-98C6A9AF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公开数据复核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D76213A-D69B-4FB7-9B85-14716109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已完成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F2D05C68-9EAA-4C01-801F-995499A6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5DFA5FE-B2D6-487F-864A-1389D9DF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EB10F8A-CCD7-495E-A6B3-D10A81BC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分组稳健性复算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3AB88D5-5589-4B6B-A0D7-39C65D42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已完成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78B6BA77-218C-4A30-9557-2953ACCD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D10BD67-2E17-4B0B-8810-B31617DC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B9886EE-CAF8-46AD-B6F7-8B6D30A3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真实标注校准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9DAF4A6-BB0E-4C6F-B4AC-66C46C13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477A68"/>
                </a:solidFill>
                <a:latin typeface="宋体"/>
                <a:ea typeface="宋体"/>
                <a:cs typeface="宋体"/>
              </a:rPr>
              <a:t>下一阶段</a:t>
            </a:r>
            <a:endParaRPr sz="1125" b="0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63A682D8-7779-49BB-BC5B-7FCB00D9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1D25C1C-606F-4296-B1FC-86067E4F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1A591FA-0D96-49D0-86FF-DB730B6F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平台影子运行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055BB46-5310-446A-A02F-C9BAF3E5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试点目标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502C643-5A74-4DD9-9B30-CFA50B1F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关键补充</a:t>
            </a:r>
            <a:endParaRPr sz="142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A1A0B1B-0C52-4DCD-B8C2-E8397729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真实平台标注、跨平台偏移、阈值与误报成本、处置后复盘。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4769237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834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EFEDCF-952F-4EEC-B58B-9DB480BE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DB5A450-1794-44D7-9DB6-542378FB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572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27D1F85-CA51-4FB4-81E0-6DC57C6B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315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交付内容由使用证据、评测结果与处置路径共同构成。</a:t>
            </a:r>
            <a:endParaRPr sz="315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786950D-DDF4-4489-A20D-33484226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9E1"/>
                </a:solidFill>
                <a:latin typeface="宋体"/>
                <a:ea typeface="宋体"/>
                <a:cs typeface="宋体"/>
              </a:defRPr>
            </a:pPr>
            <a:r>
              <a:rPr sz="1800" b="0">
                <a:solidFill>
                  <a:srgbClr val="DCE9E1"/>
                </a:solidFill>
                <a:latin typeface="宋体"/>
                <a:ea typeface="宋体"/>
                <a:cs typeface="宋体"/>
              </a:rPr>
              <a:t>数据资产清单  ·  受控评测基准  ·  可解释算法  ·  产品原型  ·  申报材料</a:t>
            </a:r>
            <a:endParaRPr sz="1800" b="0">
              <a:solidFill>
                <a:srgbClr val="DCE9E1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AC59C010-0CED-4B13-A425-1C6AD823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B7D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5BFC1E-F730-4FCE-A277-06D4B50C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请求评审关注：</a:t>
            </a:r>
            <a:endParaRPr sz="150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74E6AA2-A212-4AD7-BAD1-C18BFF4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243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18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真实平台试点所需条件</a:t>
            </a:r>
            <a:endParaRPr sz="180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40C6BE1-1CC9-4F37-9489-BFC7E0EE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21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谢谢</a:t>
            </a:r>
            <a:endParaRPr sz="210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FD9AE3B-E8EA-4DD9-9270-AA4C4E81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81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rPr>
              <a:t>TrustData / E2</a:t>
            </a:r>
            <a:endParaRPr sz="1275" b="0">
              <a:solidFill>
                <a:srgbClr val="C6D5CD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75197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2026-09-01T07:06:58.4920000Z</dcterms:created>
  <dcterms:modified xsi:type="dcterms:W3CDTF">2026-09-01T07:06:58.4920000Z</dcterms:modified>
</coreProperties>
</file>