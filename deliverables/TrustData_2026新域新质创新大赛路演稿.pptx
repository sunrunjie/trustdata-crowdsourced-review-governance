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068dd494094a34" /><Relationship Type="http://schemas.openxmlformats.org/officeDocument/2006/relationships/extended-properties" Target="/docProps/app.xml" Id="R7241fc3da0664dd2" /><Relationship Type="http://schemas.openxmlformats.org/officeDocument/2006/relationships/officeDocument" Target="/ppt/presentation.xml" Id="R2fd422f5e59047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fe1fb6432640f0"/>
  </p:sldMasterIdLst>
  <p:notesMasterIdLst>
    <p:notesMasterId xmlns:r="http://schemas.openxmlformats.org/officeDocument/2006/relationships" r:id="Rbfc477bf82a54a79"/>
  </p:notesMasterIdLst>
  <p:sldIdLst>
    <p:sldId xmlns:r="http://schemas.openxmlformats.org/officeDocument/2006/relationships" id="256" r:id="Rf602679cd86b4e85"/>
    <p:sldId xmlns:r="http://schemas.openxmlformats.org/officeDocument/2006/relationships" id="257" r:id="R8df73bd679d8401e"/>
    <p:sldId xmlns:r="http://schemas.openxmlformats.org/officeDocument/2006/relationships" id="258" r:id="Rac24b7a08d9c46d5"/>
    <p:sldId xmlns:r="http://schemas.openxmlformats.org/officeDocument/2006/relationships" id="259" r:id="R24339317d62d4044"/>
    <p:sldId xmlns:r="http://schemas.openxmlformats.org/officeDocument/2006/relationships" id="260" r:id="Rf097cd1bbbae4d14"/>
    <p:sldId xmlns:r="http://schemas.openxmlformats.org/officeDocument/2006/relationships" id="261" r:id="R52572dd683cf4923"/>
    <p:sldId xmlns:r="http://schemas.openxmlformats.org/officeDocument/2006/relationships" id="262" r:id="R8032bcdaff9d4fd7"/>
    <p:sldId xmlns:r="http://schemas.openxmlformats.org/officeDocument/2006/relationships" id="263" r:id="R527adae16b1d44b1"/>
    <p:sldId xmlns:r="http://schemas.openxmlformats.org/officeDocument/2006/relationships" id="264" r:id="R9d0d44b696194d2d"/>
    <p:sldId xmlns:r="http://schemas.openxmlformats.org/officeDocument/2006/relationships" id="265" r:id="R565037d8dd2f4d71"/>
    <p:sldId xmlns:r="http://schemas.openxmlformats.org/officeDocument/2006/relationships" id="266" r:id="R6608b38e4f7646f6"/>
    <p:sldId xmlns:r="http://schemas.openxmlformats.org/officeDocument/2006/relationships" id="267" r:id="R336093a40add42c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3314ef902e414a" /><Relationship Type="http://schemas.openxmlformats.org/officeDocument/2006/relationships/slideMaster" Target="/ppt/slideMasters/slideMaster1.xml" Id="R2dfe1fb6432640f0" /><Relationship Type="http://schemas.openxmlformats.org/officeDocument/2006/relationships/notesMaster" Target="/ppt/notesMasters/notesMaster1.xml" Id="Rbfc477bf82a54a79" /><Relationship Type="http://schemas.openxmlformats.org/officeDocument/2006/relationships/presProps" Target="/ppt/presProps.xml" Id="R1d31f2224d174782" /><Relationship Type="http://schemas.openxmlformats.org/officeDocument/2006/relationships/tableStyles" Target="/ppt/tableStyles.xml" Id="R86b99e29bf6b4ee4" /><Relationship Type="http://schemas.openxmlformats.org/officeDocument/2006/relationships/slide" Target="/ppt/slides/slide1.xml" Id="Rf602679cd86b4e85" /><Relationship Type="http://schemas.openxmlformats.org/officeDocument/2006/relationships/slide" Target="/ppt/slides/slide2.xml" Id="R8df73bd679d8401e" /><Relationship Type="http://schemas.openxmlformats.org/officeDocument/2006/relationships/slide" Target="/ppt/slides/slide3.xml" Id="Rac24b7a08d9c46d5" /><Relationship Type="http://schemas.openxmlformats.org/officeDocument/2006/relationships/slide" Target="/ppt/slides/slide4.xml" Id="R24339317d62d4044" /><Relationship Type="http://schemas.openxmlformats.org/officeDocument/2006/relationships/slide" Target="/ppt/slides/slide5.xml" Id="Rf097cd1bbbae4d14" /><Relationship Type="http://schemas.openxmlformats.org/officeDocument/2006/relationships/slide" Target="/ppt/slides/slide6.xml" Id="R52572dd683cf4923" /><Relationship Type="http://schemas.openxmlformats.org/officeDocument/2006/relationships/slide" Target="/ppt/slides/slide7.xml" Id="R8032bcdaff9d4fd7" /><Relationship Type="http://schemas.openxmlformats.org/officeDocument/2006/relationships/slide" Target="/ppt/slides/slide8.xml" Id="R527adae16b1d44b1" /><Relationship Type="http://schemas.openxmlformats.org/officeDocument/2006/relationships/slide" Target="/ppt/slides/slide9.xml" Id="R9d0d44b696194d2d" /><Relationship Type="http://schemas.openxmlformats.org/officeDocument/2006/relationships/slide" Target="/ppt/slides/slide10.xml" Id="R565037d8dd2f4d71" /><Relationship Type="http://schemas.openxmlformats.org/officeDocument/2006/relationships/slide" Target="/ppt/slides/slide11.xml" Id="R6608b38e4f7646f6" /><Relationship Type="http://schemas.openxmlformats.org/officeDocument/2006/relationships/slide" Target="/ppt/slides/slide12.xml" Id="R336093a40add42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0e60fbadce42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dc555998e349d1" /><Relationship Type="http://schemas.openxmlformats.org/officeDocument/2006/relationships/notesMaster" Target="/ppt/notesMasters/notesMaster1.xml" Id="R2c86f61eafc348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56ce0603f84491" /><Relationship Type="http://schemas.openxmlformats.org/officeDocument/2006/relationships/notesMaster" Target="/ppt/notesMasters/notesMaster1.xml" Id="Rf955c5a1f2c746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355f6f6fe24efe" /><Relationship Type="http://schemas.openxmlformats.org/officeDocument/2006/relationships/notesMaster" Target="/ppt/notesMasters/notesMaster1.xml" Id="Rf020e911b5ac41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4e8abe569b4818" /><Relationship Type="http://schemas.openxmlformats.org/officeDocument/2006/relationships/notesMaster" Target="/ppt/notesMasters/notesMaster1.xml" Id="R7ed9c8509c2046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2216a6f55148f2" /><Relationship Type="http://schemas.openxmlformats.org/officeDocument/2006/relationships/notesMaster" Target="/ppt/notesMasters/notesMaster1.xml" Id="Red4c772292884a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5b47a788d24d1c" /><Relationship Type="http://schemas.openxmlformats.org/officeDocument/2006/relationships/notesMaster" Target="/ppt/notesMasters/notesMaster1.xml" Id="R05a97621d51846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f7ba7902ff4e74" /><Relationship Type="http://schemas.openxmlformats.org/officeDocument/2006/relationships/notesMaster" Target="/ppt/notesMasters/notesMaster1.xml" Id="Rf7ecb24c8ca24f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b64e9b712148a4" /><Relationship Type="http://schemas.openxmlformats.org/officeDocument/2006/relationships/notesMaster" Target="/ppt/notesMasters/notesMaster1.xml" Id="Rb18cf31811a04c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988b0ba05044b6" /><Relationship Type="http://schemas.openxmlformats.org/officeDocument/2006/relationships/notesMaster" Target="/ppt/notesMasters/notesMaster1.xml" Id="Rc31d6466c29444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81cafaeced4837" /><Relationship Type="http://schemas.openxmlformats.org/officeDocument/2006/relationships/notesMaster" Target="/ppt/notesMasters/notesMaster1.xml" Id="Rdf0a333e312a4b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66c115ce264daa" /><Relationship Type="http://schemas.openxmlformats.org/officeDocument/2006/relationships/notesMaster" Target="/ppt/notesMasters/notesMaster1.xml" Id="R5e6743cce1414a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fc771da1f54873" /><Relationship Type="http://schemas.openxmlformats.org/officeDocument/2006/relationships/notesMaster" Target="/ppt/notesMasters/notesMaster1.xml" Id="Rcf42ddcd31404b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开场说明项目边界：这里评估 UGC 数据在使用过程中的风险；内容真实性与生成来源由独立流程核验。全套材料的数字均可回到运行产物与哈希清单。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docs/01_COMPETITION_STRATEGY.md</a:t>
            </a:r>
          </a:p>
          <a:p xmlns:a="http://schemas.openxmlformats.org/drawingml/2006/main">
            <a:r>
              <a:t>- Internal evidence: competition/evidence/INDEX.md</a:t>
            </a:r>
          </a:p>
          <a:p xmlns:a="http://schemas.openxmlformats.org/drawingml/2006/main">
            <a:r>
              <a:t>- https://www.xyxzds.com/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本页将评审关注点收束到三个可检验维度：证据完整度、信号区分度和动作记录完整度。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docs/03_ALGORITHM_AND_METHODS.md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https://www.iso.org/standard/81088.html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边界说明用于控制结论范围。项目输出风险分层与证据覆盖情况，平台或研究者结合业务规则完成最终判断。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Internal evidence: materials/APPLICATION_DRAFT.md</a:t>
            </a:r>
          </a:p>
          <a:p xmlns:a="http://schemas.openxmlformats.org/drawingml/2006/main">
            <a:r>
              <a:t>- https://www.cac.gov.cn/2025-03/14/c_1743654684782215.htm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五类特征分别对应来源、行为、内容、跨来源与时间结构，均可在护照与审计记录中回溯。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src/trustdata/features.py</a:t>
            </a:r>
          </a:p>
          <a:p xmlns:a="http://schemas.openxmlformats.org/drawingml/2006/main">
            <a:r>
              <a:t>- Internal evidence: src/trustdata/scoring.py</a:t>
            </a:r>
          </a:p>
          <a:p xmlns:a="http://schemas.openxmlformats.org/drawingml/2006/main">
            <a:r>
              <a:t>- Internal evidence: docs/03_ALGORITHM_AND_METHODS.md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本页展示评分设计的可解释性：场景差异通过显式权重呈现。实际应用时，权重需要在目标平台上以历史标注和误报成本校准。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src/trustdata/scoring.py</a:t>
            </a:r>
          </a:p>
          <a:p xmlns:a="http://schemas.openxmlformats.org/drawingml/2006/main">
            <a:r>
              <a:t>- Internal evidence: configs/trust.yaml</a:t>
            </a:r>
          </a:p>
          <a:p xmlns:a="http://schemas.openxmlformats.org/drawingml/2006/main">
            <a:r>
              <a:t>- Internal evidence: docs/04_EVALUATION_AND_LIMITS.md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数据清单区分公开来源与受控基准。受控污染属于方法验证标签，用于检验系统对已知扰动的敏感性；平台真实标注将在试点阶段获取。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docs/02_DATA_ASSETS.md</a:t>
            </a:r>
          </a:p>
          <a:p xmlns:a="http://schemas.openxmlformats.org/drawingml/2006/main">
            <a:r>
              <a:t>- Internal evidence: competition/evidence/INDEX.md</a:t>
            </a:r>
          </a:p>
          <a:p xmlns:a="http://schemas.openxmlformats.org/drawingml/2006/main">
            <a:r>
              <a:t>- Internal evidence: outputs/runs/latest/run_manifest.json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评测设置同时覆盖分类、概率校准、排序与分组切分敏感性。阈值依据清洁样本的误报约束确定。五次复算共享同一受控基准，检验贡献者分组变化带来的波动。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src/trustdata/evaluation.py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Internal evidence: outputs/runs/latest/classification_metrics.csv</a:t>
            </a:r>
          </a:p>
          <a:p xmlns:a="http://schemas.openxmlformats.org/drawingml/2006/main">
            <a:r>
              <a:t>- Internal evidence: outputs/runs/latest/split_sensitivity_summary.csv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图中报告受控污染基准结果。30% 水平的精度、召回率与 AUPRC 来自主运行产物；五次贡献者分组复算的 F1 范围为 0.7451—0.7622。真实平台效果将在试点数据上独立评估。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competition/evidence/figures/risk_detection_by_contamination.png</a:t>
            </a:r>
          </a:p>
          <a:p xmlns:a="http://schemas.openxmlformats.org/drawingml/2006/main">
            <a:r>
              <a:t>- Internal evidence: outputs/runs/latest/classification_metrics.csv</a:t>
            </a:r>
          </a:p>
          <a:p xmlns:a="http://schemas.openxmlformats.org/drawingml/2006/main">
            <a:r>
              <a:t>- Internal evidence: outputs/runs/latest/split_sensitivity_summary.csv</a:t>
            </a:r>
          </a:p>
          <a:p xmlns:a="http://schemas.openxmlformats.org/drawingml/2006/main">
            <a:r>
              <a:t>- Internal evidence: docs/04_EVALUATION_AND_LIMITS.md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平均排名误差与 Top-100 保留率分别报告。加权排序在 20%—30% 污染下降低平均名次误差，在 5%—30% 污染下提高 Top-100 保留率；1% 污染下两项指标均下降，因此采用监测与人工复核策略。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competition/evidence/figures/ranking_robustness.png</a:t>
            </a:r>
          </a:p>
          <a:p xmlns:a="http://schemas.openxmlformats.org/drawingml/2006/main">
            <a:r>
              <a:t>- Internal evidence: outputs/runs/latest/ranking_metrics.csv</a:t>
            </a:r>
          </a:p>
          <a:p xmlns:a="http://schemas.openxmlformats.org/drawingml/2006/main">
            <a:r>
              <a:t>- Internal evidence: docs/04_EVALUATION_AND_LIMITS.md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演示时从总览进入单条护照，再进入风险队列与审计视图。该路径展示结论、证据与处置记录之间的对应关系。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product/index.html</a:t>
            </a:r>
          </a:p>
          <a:p xmlns:a="http://schemas.openxmlformats.org/drawingml/2006/main">
            <a:r>
              <a:t>- Internal evidence: product/app.js</a:t>
            </a:r>
          </a:p>
          <a:p xmlns:a="http://schemas.openxmlformats.org/drawingml/2006/main">
            <a:r>
              <a:t>- Internal evidence: docs/06_PRODUCT_AND_ARCHITECTURE.md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这页把当前成果与下一步区分开。当前基准验证已经形成可复核证据；真实平台试点需要合作方提供标注与影子运行环境。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docs/01_COMPETITION_STRATEGY.md</a:t>
            </a:r>
          </a:p>
          <a:p xmlns:a="http://schemas.openxmlformats.org/drawingml/2006/main">
            <a:r>
              <a:t>- Internal evidence: docs/04_EVALUATION_AND_LIMITS.md</a:t>
            </a:r>
          </a:p>
          <a:p xmlns:a="http://schemas.openxmlformats.org/drawingml/2006/main">
            <a:r>
              <a:t>- Internal evidence: materials/APPLICATION_DRAFT.md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结尾回到可验证性和下一步。受控基准结果按 E2 证据等级表述；讨论重点转向真实标注与试点条件。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evidence: competition/evidence/INDEX.md</a:t>
            </a:r>
          </a:p>
          <a:p xmlns:a="http://schemas.openxmlformats.org/drawingml/2006/main">
            <a:r>
              <a:t>- Internal evidence: docs/07_REPRODUCIBILITY_AND_EVIDENCE.md</a:t>
            </a:r>
          </a:p>
          <a:p xmlns:a="http://schemas.openxmlformats.org/drawingml/2006/main">
            <a:r>
              <a:t>- https://jw.nju.edu.cn/d9/36/c26263a842038/page.htm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869718c6de48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08413704714bb4" /><Relationship Type="http://schemas.openxmlformats.org/officeDocument/2006/relationships/slideLayout" Target="/ppt/slideLayouts/slideLayout1.xml" Id="R2ab2553d82c748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b2553d82c748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8bcd58e504a57" /><Relationship Type="http://schemas.openxmlformats.org/officeDocument/2006/relationships/notesSlide" Target="/ppt/notesSlides/notesSlide1.xml" Id="Rddb6da86bbad49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a9ad261da4760" /><Relationship Type="http://schemas.openxmlformats.org/officeDocument/2006/relationships/notesSlide" Target="/ppt/notesSlides/notesSlide2.xml" Id="R585b4ea983c343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c2b3b9b044155" /><Relationship Type="http://schemas.openxmlformats.org/officeDocument/2006/relationships/notesSlide" Target="/ppt/notesSlides/notesSlide3.xml" Id="Rccf542c2e65747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281df7eb04cb2" /><Relationship Type="http://schemas.openxmlformats.org/officeDocument/2006/relationships/notesSlide" Target="/ppt/notesSlides/notesSlide4.xml" Id="Rf863c45508024f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02ab1ba41479f" /><Relationship Type="http://schemas.openxmlformats.org/officeDocument/2006/relationships/notesSlide" Target="/ppt/notesSlides/notesSlide5.xml" Id="R326d6cfa65d046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227050cc24207" /><Relationship Type="http://schemas.openxmlformats.org/officeDocument/2006/relationships/notesSlide" Target="/ppt/notesSlides/notesSlide6.xml" Id="Rf10d40ab5b4d46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7c0c8d8d648d9" /><Relationship Type="http://schemas.openxmlformats.org/officeDocument/2006/relationships/notesSlide" Target="/ppt/notesSlides/notesSlide7.xml" Id="Rd17272c1aa2a4c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9336095224546" /><Relationship Type="http://schemas.openxmlformats.org/officeDocument/2006/relationships/image" Target="/ppt/media/image.png" Id="R149e18db4fd345ec" /><Relationship Type="http://schemas.openxmlformats.org/officeDocument/2006/relationships/notesSlide" Target="/ppt/notesSlides/notesSlide8.xml" Id="R934274c123c040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7c34db6c54319" /><Relationship Type="http://schemas.openxmlformats.org/officeDocument/2006/relationships/image" Target="/ppt/media/image2.png" Id="Rf3f4ecceaa2c4b53" /><Relationship Type="http://schemas.openxmlformats.org/officeDocument/2006/relationships/notesSlide" Target="/ppt/notesSlides/notesSlide9.xml" Id="R3a422e336f3f48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5e634c50b4bdc" /><Relationship Type="http://schemas.openxmlformats.org/officeDocument/2006/relationships/notesSlide" Target="/ppt/notesSlides/notesSlide10.xml" Id="Re28f5e5d570e449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5cf1a3c7d4fbc" /><Relationship Type="http://schemas.openxmlformats.org/officeDocument/2006/relationships/notesSlide" Target="/ppt/notesSlides/notesSlide11.xml" Id="Rd6e176ccdb1d48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22cee02c25424c" /><Relationship Type="http://schemas.openxmlformats.org/officeDocument/2006/relationships/notesSlide" Target="/ppt/notesSlides/notesSlide12.xml" Id="Rafe7d79bd62147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4E8987-7241-4640-974E-DF718707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6512C-4040-4478-8265-21265569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895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D09D85-8C6F-4DF1-9254-AF48127E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90600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65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TrustData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60230A-B3E2-44BE-8C6B-A89D76DD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781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55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UGC 数据使用风险的可解释评估与分级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8EBA0-D475-4792-A6D4-BA7FA666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500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新域新质创新大赛｜项目路演稿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8E7316-BB0A-49AE-B602-416B708B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477A68"/>
                </a:solidFill>
                <a:latin typeface="SimSun"/>
                <a:ea typeface="SimSun"/>
                <a:cs typeface="SimSun"/>
              </a:rPr>
              <a:t>以可复核证据连接数据、模型与处置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439D56-CB6E-4D03-9794-E9755F27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A80554-1982-4D0C-A99C-8A93E619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350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南京大学本科生项目组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E8FB0-C1C0-40D7-A78C-3B5E20AC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TECHNICAL PRESENTATION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316980-8B53-49DC-8252-D58EC11A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95800"/>
            <a:ext cx="152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BECA8F-BEE1-4B63-962F-8CC5196D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305300"/>
            <a:ext cx="152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6496D4-4D15-4DF5-8BE4-B2911469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114800"/>
            <a:ext cx="152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15EC75-292B-443F-8CFF-0EC57CBF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924300"/>
            <a:ext cx="152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49A63-38E0-4A2B-9B80-B1D9E28A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733800"/>
            <a:ext cx="1524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E7CB10-0168-41FF-A654-20E4EE5F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DATA USE RISK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EVIDENCE / CONTROL / TRACEABILITY</a:t>
            </a:r>
          </a:p>
        </p:txBody>
      </p:sp>
    </p:spTree>
    <p:extLst>
      <p:ext uri="{BB962C8B-B14F-4D97-AF65-F5344CB8AC3E}">
        <p14:creationId xmlns:p14="http://schemas.microsoft.com/office/powerpoint/2010/main" val="13596578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E450B5-FB52-4698-AD3A-E000E132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34293-3096-49B9-AA61-8D697A81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3EE30-288D-4977-9BC6-670F54BF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核心问题：数据如何使用，依据如何说明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7D022-2DEA-44BA-B1CC-B2F52FFE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2D4C2-EDC5-4782-BDFB-A9BF53D9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UGC 进入分析、推荐与运营流程后，风险常以局部信号出现：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CA3B0-960D-4778-A99A-09C2C9E3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CF284-AC27-43BD-9EF0-5300C7C6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02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来源与授权记录不完整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C5F180-7507-4AC5-AA74-22F12EBD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43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solidFill>
              <a:srgbClr val="9B5C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27EFDC-9EDE-44DD-B660-71F581B8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575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02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异常行为被平均值掩盖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78A30-48C3-4264-A1E9-218BBB10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243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8D647-A370-4571-8DCC-37747B63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02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高风险样本缺少处置依据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619157-512B-49CB-A685-F609A129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478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350" b="1">
                <a:solidFill>
                  <a:srgbClr val="477A68"/>
                </a:solidFill>
                <a:latin typeface="SimSun"/>
                <a:ea typeface="SimSun"/>
                <a:cs typeface="SimSun"/>
              </a:rPr>
              <a:t>证据链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5B7A-FD6A-4737-ADBF-1E3318E4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4E470D-A094-4255-BA0C-0419F93A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12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数据资产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EB095-BBE1-466F-9216-C03EF7D2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3536D-3322-4678-B124-549EA906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AED238-8DBB-4FFA-BF68-AEF3D610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12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特征证据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E2E875-EC96-4023-BF4F-FEAE1A4B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099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CD8EDB-8298-4572-9F26-8438C5B7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2AE9C1-C1EF-46DE-B77B-00BB9C3B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12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分级结果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891FDC-B6F8-4327-80D7-B7DF38F7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0099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453180-1694-4C59-B3B5-9838E3E9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78130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13813E-3D72-490C-99A0-90020D59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8956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12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处置记录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A5ED07-EB82-4A37-B95D-FB5DBDB0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862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03B4A"/>
                </a:solidFill>
                <a:latin typeface="SimSun"/>
                <a:ea typeface="SimSun"/>
                <a:cs typeface="SimSun"/>
              </a:defRPr>
            </a:pPr>
            <a:r>
              <a:rPr sz="1725" b="1">
                <a:solidFill>
                  <a:srgbClr val="203B4A"/>
                </a:solidFill>
                <a:latin typeface="SimSun"/>
                <a:ea typeface="SimSun"/>
                <a:cs typeface="SimSun"/>
              </a:rPr>
              <a:t>可复核的判断，才可进入业务流程。</a:t>
            </a:r>
          </a:p>
        </p:txBody>
      </p:sp>
    </p:spTree>
    <p:extLst>
      <p:ext uri="{BB962C8B-B14F-4D97-AF65-F5344CB8AC3E}">
        <p14:creationId xmlns:p14="http://schemas.microsoft.com/office/powerpoint/2010/main" val="19711165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97879A-341F-4651-9D6B-39B4ABCB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4476B-CDC5-44F3-89F9-F543FFA9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3E72E-828A-4B78-B9C6-69616471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项目边界：数据使用风险评估与独立核验流程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D4206C-2FA8-468E-97A9-9A192BAC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75C23-D529-403E-927D-16476C48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477A68"/>
                </a:solidFill>
                <a:latin typeface="SimSun"/>
                <a:ea typeface="SimSun"/>
                <a:cs typeface="SimSun"/>
              </a:rPr>
              <a:t>当前版本回答三个问题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4FC7B7-B29B-47BB-A823-87903F3E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8236CF-3494-46F9-AFCE-05D27ED2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5270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来源与过程证据的可用程度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6C0750-E02D-4F9C-9126-BFE6D527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0515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AEE00D-514E-48F3-9EB2-F7003A2D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2E8F1A-151D-46C7-BC7F-68002664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异常信号的跨时间、主体与来源一致程度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F383BF-5FEC-4467-A9CC-634CC225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E9B2E3-B0B7-4115-8F93-9DF2C6142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386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1AA319-5122-4DC0-845C-12195ABB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不同风险水平对应的复核动作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D888FD-FB5A-4976-A5A6-63558BE8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9105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841DCD-1E99-4479-801F-B6E79520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38350"/>
            <a:ext cx="38100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1407F4-B415-4997-B2D5-87DB25A5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9B5C55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9B5C55"/>
                </a:solidFill>
                <a:latin typeface="SimSun"/>
                <a:ea typeface="SimSun"/>
                <a:cs typeface="SimSun"/>
              </a:rPr>
              <a:t>由独立流程承担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07B86D-4CE5-427C-A5E3-B080CFBE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14650"/>
            <a:ext cx="285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内容真实性核验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生成来源判别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平台线上自动拦截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法律责任认定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ADAD7-C0BE-482E-B44C-CE2E8BE7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054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203B4A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203B4A"/>
                </a:solidFill>
                <a:latin typeface="SimSun"/>
                <a:ea typeface="SimSun"/>
                <a:cs typeface="SimSun"/>
              </a:rPr>
              <a:t>边界清楚，结论才可被正确使用。</a:t>
            </a:r>
          </a:p>
        </p:txBody>
      </p:sp>
    </p:spTree>
    <p:extLst>
      <p:ext uri="{BB962C8B-B14F-4D97-AF65-F5344CB8AC3E}">
        <p14:creationId xmlns:p14="http://schemas.microsoft.com/office/powerpoint/2010/main" val="5572323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6408A-38FC-4075-A877-86CED307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D2AD47-F5D3-43FF-BDEF-44405079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DDA3BC-DC54-462F-9DC5-958AEB53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五类证据进入同一条可解释评分链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C1703-C7D7-4889-9BAA-DCFA7028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C6AD5-A633-4E4F-8082-3FFAE2E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F48572-6F9F-4438-BE99-3E7416FE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P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来源完整性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24A3A-2591-451B-8DC9-67496955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68A3C-E650-4E5B-A7F8-0B031B56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solidFill>
              <a:srgbClr val="203B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D4B3CA-59F9-4DEA-A893-D136C75C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B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行为稳定性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B4C1EB-293D-4A29-B5F5-ED42BF12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355CD-2BB0-414C-BB8D-5AD747DB9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B9AE4A-89A3-4141-A838-B1707562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C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内容相似性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3F2B97-01A6-4978-8C35-8FAFA490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B8B97D-C8CF-4E32-BB41-61DE0CE6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solidFill>
              <a:srgbClr val="9B5C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FC5132-0CE0-411B-B0B3-D8CAD50D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X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跨源一致性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8AE2B1-6C35-4B19-B405-B5FAB9DF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F794F-27E5-4307-B07A-22ABF0C5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19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5E23CD-2FDC-4C1D-9E77-57F49644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343150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T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时间结构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31A148-9FBA-49A5-8913-D99CF852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275" b="1">
                <a:solidFill>
                  <a:srgbClr val="477A68"/>
                </a:solidFill>
                <a:latin typeface="SimSun"/>
                <a:ea typeface="SimSun"/>
                <a:cs typeface="SimSun"/>
              </a:rPr>
              <a:t>证据向量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772407-230D-4939-B302-00553244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P / B / C / X / T  →  场景权重  →  DTS  →  置信度与动作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937C5F-474D-4124-A655-E3B8A19D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575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不同场景使用不同权重；每条结果保留证据覆盖、风险等级与复核建议。</a:t>
            </a:r>
          </a:p>
        </p:txBody>
      </p:sp>
    </p:spTree>
    <p:extLst>
      <p:ext uri="{BB962C8B-B14F-4D97-AF65-F5344CB8AC3E}">
        <p14:creationId xmlns:p14="http://schemas.microsoft.com/office/powerpoint/2010/main" val="8407413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D6CE1F-9F25-4C30-B824-701110D2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A12F5-CDEA-46B2-81D1-A769EA73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F63951-E046-44E4-B715-538B6DF1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场景化 DTS：同一份数据，在不同任务中有不同风险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45EDC-DD20-4CCD-BF8F-D7E202F5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15E5A-091E-40D2-A830-CDB54687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DTS = Σ wₖ·Eₖ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5198AF-589E-4B63-A470-9CD9F207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575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权重向量随任务切换，证据项保持一致。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4A637-126F-4CF4-8011-DF6007C3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62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35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研究分析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0324B7-3C3F-485D-BDC2-73164087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70960"/>
            <a:ext cx="17145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4CB1B4-36BC-4E08-8187-EDAB0A71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293870"/>
            <a:ext cx="171450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43A758-195D-44A0-924A-9BA88455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11930"/>
            <a:ext cx="171450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C7A30C-B419-4432-A82D-217312B6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223385"/>
            <a:ext cx="171450" cy="634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FDCE6-107C-4FE7-A112-4EF76240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364355"/>
            <a:ext cx="171450" cy="493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15E3B2-0989-419A-B8DB-E51BA86A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048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rPr>
              <a:t>0.28  0.16  0.24  0.18  0.14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FAB6D-1455-4BF8-B325-6A8FF2C7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62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35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内容分发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3A89D9-74E4-48F5-B5DE-6D8E3123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64355"/>
            <a:ext cx="171450" cy="493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6F1D96-9334-4794-8758-12E1F50C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870960"/>
            <a:ext cx="17145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206BBC-29B5-486C-A51B-DE397DC4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52900"/>
            <a:ext cx="1714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F25E63-F5B9-4AE5-A1CE-DD7FFE82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293870"/>
            <a:ext cx="171450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74046B-A254-493B-9EBE-24602E71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82415"/>
            <a:ext cx="171450" cy="775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5EBA0D-7229-4689-B3D8-15C007DD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48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rPr>
              <a:t>0.14  0.28  0.20  0.16  0.22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0F8E83-9EA3-4495-8C12-AC298CCF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62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35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运营决策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700A5E-A1E0-4907-B02C-06CF5C12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152900"/>
            <a:ext cx="1714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FF52CD-FCA8-40A1-9739-C0326AC3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4082415"/>
            <a:ext cx="171450" cy="775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083375-43C3-4CA1-ACEE-20341A5A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223385"/>
            <a:ext cx="171450" cy="634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858D9C-1000-46E4-8914-999B555D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3941445"/>
            <a:ext cx="171450" cy="916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C0BE5D-C1AB-4C5C-8269-8F52B130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4355"/>
            <a:ext cx="171450" cy="493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3A085B-F717-4C71-85F2-AF2D766E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048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4736E"/>
                </a:solidFill>
                <a:latin typeface="Times New Roman"/>
                <a:ea typeface="Times New Roman"/>
                <a:cs typeface="Times New Roman"/>
              </a:rPr>
              <a:t>0.20  0.22  0.18  0.26  0.14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A8DA45-E84F-4899-AD93-4F806964E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65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权重表达证据在特定使用场景中的相对重要性。</a:t>
            </a:r>
          </a:p>
        </p:txBody>
      </p:sp>
    </p:spTree>
    <p:extLst>
      <p:ext uri="{BB962C8B-B14F-4D97-AF65-F5344CB8AC3E}">
        <p14:creationId xmlns:p14="http://schemas.microsoft.com/office/powerpoint/2010/main" val="233364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52D8B0-DABA-4E34-B9EE-64E05016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DCBEE3-D512-4FE8-ADCD-76FEBDA9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FFC1FD-0423-4177-92FB-50680547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数据资产：可追溯的公开样本 + 受控污染基准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C80579-2C80-4D23-B59C-CD58D52C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3014C-27D7-4B96-843A-DBD3A973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208,615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39441-DF0F-4339-9EC6-8E3EA75E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275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原始观测记录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8E7D4-3725-408F-9EC4-7FD3150B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14550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0">
            <a:solidFill>
              <a:srgbClr val="D7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E5AC90-1616-4BB7-B68E-94A04BD4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4,102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B600C-B0A8-4BC3-A3E4-A318A37C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275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AOTY–RYM 精确匹配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28C31-9D69-4F02-A04F-1D6AE527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14550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0">
            <a:solidFill>
              <a:srgbClr val="D7DD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3BFB2B-6AF9-4AA1-A256-2258E27A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30,000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75586-B7FA-4574-9DF6-CEF31E76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275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受控注入样本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2F33B1-CE69-4521-9C2E-CDF93CEA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14550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0">
            <a:solidFill>
              <a:srgbClr val="D7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11E272-3D60-445A-8C4B-6F0739EA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18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BFFCEA-021F-4126-853E-90EC4BCF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67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275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输入/输出哈希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91BB8F-E29A-46DC-B650-EEA97899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965AC1-1A41-47BE-8810-00CB0330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425" b="1">
                <a:solidFill>
                  <a:srgbClr val="477A68"/>
                </a:solidFill>
                <a:latin typeface="SimSun"/>
                <a:ea typeface="SimSun"/>
                <a:cs typeface="SimSun"/>
              </a:rPr>
              <a:t>公开样本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D5571E-D5BD-4FC7-B76C-89497C4E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AOTY / Metacritic 历史评分、AOTY Top 5000、RYM Top 5000、已发布评论摘录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BF54BE-70C0-4B36-9A87-B02FA37C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B18A54"/>
                </a:solidFill>
                <a:latin typeface="SimSun"/>
                <a:ea typeface="SimSun"/>
                <a:cs typeface="SimSun"/>
              </a:defRPr>
            </a:pPr>
            <a:r>
              <a:rPr sz="1425" b="1">
                <a:solidFill>
                  <a:srgbClr val="B18A54"/>
                </a:solidFill>
                <a:latin typeface="SimSun"/>
                <a:ea typeface="SimSun"/>
                <a:cs typeface="SimSun"/>
              </a:rPr>
              <a:t>基准样本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28653-2FAF-4538-919B-D236C696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行为操纵、协同行为、重复内容、时间突发、来源缺失；全部标记为 synthetic，仅用于评测</a:t>
            </a:r>
          </a:p>
        </p:txBody>
      </p:sp>
    </p:spTree>
    <p:extLst>
      <p:ext uri="{BB962C8B-B14F-4D97-AF65-F5344CB8AC3E}">
        <p14:creationId xmlns:p14="http://schemas.microsoft.com/office/powerpoint/2010/main" val="12025566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B34084-00C1-490F-A55D-4EE3D5CF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6579A7-3FB6-4825-8D7A-7609AB7F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8B7AB7-4F63-4FAD-9B6F-29EBC173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评测设计：把“变差多少”变成可重复的实验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A0A1B5-3B5C-420D-9E21-196E06E8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EBCAFD-911F-41A4-81F1-CE7AFA75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350" b="1">
                <a:solidFill>
                  <a:srgbClr val="477A68"/>
                </a:solidFill>
                <a:latin typeface="SimSun"/>
                <a:ea typeface="SimSun"/>
                <a:cs typeface="SimSun"/>
              </a:rPr>
              <a:t>污染比例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C2DB0-54FF-4F0B-BE83-2BD1EF1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994DF8-7017-4CA4-882A-1D9AB0C5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1E7A4E-06EB-4110-9127-D15DE714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EDB825-F95E-4710-A111-63EEECE8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E78290-A3D7-4E09-B212-5E5F734F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06813F-CF5A-48F2-86C4-4933B127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F63450-AB48-43CA-8B7A-69F45B49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DC185-7F46-468E-A013-9B8D5FC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10%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532CFB-DC14-4AE2-A4E8-6E6C24C2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44F3A8-65FB-45EC-8576-8B997593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solidFill>
              <a:srgbClr val="DCE9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2E002A-0A0D-4C67-94B2-F32E229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20%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D1D9E3-711D-4A37-AA26-545DC888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384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41C63C-2FBD-44AD-AB36-51825BF8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14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8BF78C-2B41-4C36-BCFE-81BADF48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337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342F"/>
                </a:solidFill>
                <a:latin typeface="Times New Roman"/>
                <a:ea typeface="Times New Roman"/>
                <a:cs typeface="Times New Roman"/>
              </a:rPr>
              <a:t>30%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CFA168-BFEC-4D1A-8079-8F8DF45F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350" b="1">
                <a:solidFill>
                  <a:srgbClr val="477A68"/>
                </a:solidFill>
                <a:latin typeface="SimSun"/>
                <a:ea typeface="SimSun"/>
                <a:cs typeface="SimSun"/>
              </a:rPr>
              <a:t>分组约束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FE3680-9D33-4402-9DC3-62845B29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贡献者分组切分，5 个预设种子复算；每次训练、验证与测试均保持主体隔离。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E0F222-2A96-4009-80C9-BFBA728D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350" b="1">
                <a:solidFill>
                  <a:srgbClr val="477A68"/>
                </a:solidFill>
                <a:latin typeface="SimSun"/>
                <a:ea typeface="SimSun"/>
                <a:cs typeface="SimSun"/>
              </a:rPr>
              <a:t>判定约束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A8C124-810F-4ECF-98BC-1726269F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阈值按清洁样本 FPR ≤ 1% 选择；同时报告 Brier、ECE、AUROC、AUPRC 与排序稳定性。</a:t>
            </a:r>
          </a:p>
        </p:txBody>
      </p:sp>
    </p:spTree>
    <p:extLst>
      <p:ext uri="{BB962C8B-B14F-4D97-AF65-F5344CB8AC3E}">
        <p14:creationId xmlns:p14="http://schemas.microsoft.com/office/powerpoint/2010/main" val="15391595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881C3-306A-4017-B5EB-63A96675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C427F-2DDE-4E82-AFF6-A750601C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B1FF8-B3DA-4EAF-9292-3FF5D75C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检测性能：污染越强，分层识别越稳定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475B35-FCD4-4AA7-B50C-9F76DD1A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e18db4fd345ec"/>
          <a:stretch xmlns:a="http://schemas.openxmlformats.org/drawingml/2006/main"/>
        </p:blipFill>
        <p:spPr>
          <a:xfrm xmlns:a="http://schemas.openxmlformats.org/drawingml/2006/main">
            <a:off x="857250" y="2023051"/>
            <a:ext cx="6667500" cy="382154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DD304E-BABE-4F10-8BCC-28C2B88E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24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18A54"/>
                </a:solidFill>
                <a:latin typeface="SimSun"/>
                <a:ea typeface="SimSun"/>
                <a:cs typeface="SimSun"/>
              </a:defRPr>
            </a:pPr>
            <a:r>
              <a:rPr sz="1350" b="1">
                <a:solidFill>
                  <a:srgbClr val="B18A54"/>
                </a:solidFill>
                <a:latin typeface="SimSun"/>
                <a:ea typeface="SimSun"/>
                <a:cs typeface="SimSun"/>
              </a:rPr>
              <a:t>30% 污染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89973-448D-4FC6-86FA-212086BD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266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precision  0.992</a:t>
            </a:r>
          </a:p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recall     0.602</a:t>
            </a:r>
          </a:p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F1         0.750</a:t>
            </a:r>
          </a:p>
          <a:p xmlns:a="http://schemas.openxmlformats.org/drawingml/2006/main">
            <a:pPr algn="l">
              <a:lnSpc>
                <a:spcPct val="123000"/>
              </a:lnSpc>
              <a:buNone/>
              <a:def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AUPRC      0.949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CB114-2C10-42AC-8B72-DBDEC2A5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10100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2D738D-9188-48F2-ADE5-9D69C323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149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5 次分组复算：F1 0.745–0.762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主运行 FPR：0.17%</a:t>
            </a:r>
          </a:p>
        </p:txBody>
      </p:sp>
    </p:spTree>
    <p:extLst>
      <p:ext uri="{BB962C8B-B14F-4D97-AF65-F5344CB8AC3E}">
        <p14:creationId xmlns:p14="http://schemas.microsoft.com/office/powerpoint/2010/main" val="10169749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20EC50-112F-409D-A1F7-433195AE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A2341-D7CF-4F58-8AA4-93D382CF6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70B6B3-62FB-4DE3-97BA-D1CBF33F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排序权衡：中高污染改善，低污染优先监测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ADB86-1584-4E1F-989A-8DFEEFE8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f4ecceaa2c4b53"/>
          <a:stretch xmlns:a="http://schemas.openxmlformats.org/drawingml/2006/main"/>
        </p:blipFill>
        <p:spPr>
          <a:xfrm xmlns:a="http://schemas.openxmlformats.org/drawingml/2006/main">
            <a:off x="838200" y="2281985"/>
            <a:ext cx="6572250" cy="313222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BBC9D7-E10E-46A9-8964-29009388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18A54"/>
                </a:solidFill>
                <a:latin typeface="SimSun"/>
                <a:ea typeface="SimSun"/>
                <a:cs typeface="SimSun"/>
              </a:defRPr>
            </a:pPr>
            <a:r>
              <a:rPr sz="1350" b="1">
                <a:solidFill>
                  <a:srgbClr val="B18A54"/>
                </a:solidFill>
                <a:latin typeface="SimSun"/>
                <a:ea typeface="SimSun"/>
                <a:cs typeface="SimSun"/>
              </a:rPr>
              <a:t>30% 污染时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0A236-2217-4F2A-991D-C7CE95D9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3000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9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Spearman ρ  0.994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Top-100 overlap  0.70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203B4A"/>
                </a:solidFill>
                <a:latin typeface="Times New Roman"/>
                <a:ea typeface="Times New Roman"/>
                <a:cs typeface="Times New Roman"/>
              </a:rPr>
              <a:t>MRE reduction  25.6%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823898-095E-4838-8E14-EB4E28F0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62450"/>
            <a:ext cx="3124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2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20%–30% 降低平均排名误差；5%–30% 提高 Top-100 保留率。1% 场景进入监测与人工复核。</a:t>
            </a:r>
          </a:p>
        </p:txBody>
      </p:sp>
    </p:spTree>
    <p:extLst>
      <p:ext uri="{BB962C8B-B14F-4D97-AF65-F5344CB8AC3E}">
        <p14:creationId xmlns:p14="http://schemas.microsoft.com/office/powerpoint/2010/main" val="17494881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0E36FA-B109-4C88-A898-570CA04F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C28466-9EDD-4C7D-B232-2B0AAD31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AE725-2B01-4AD1-85DD-A37A524A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产品交付：从总览到单条记录的审计路径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30286-7B12-497F-9E50-81841640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1DF3B-2FDF-4631-BF48-D197A306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9DF7C3-CF10-4A91-BCB9-11553230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CEECD-4E4C-4A96-A0B9-3E68552A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总览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Overview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954E93-E3F2-488D-9C32-3C9EF0E1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1AA71-93B7-418F-AB45-E44D9990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76EED-9EF0-45CC-BF0E-995F2B11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512BDA-F262-48E2-8523-E8512FCA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护照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Passport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AB5384-5EB7-4C3C-93D2-08A45CB4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E07D7C-F790-4C2C-B932-22AFE643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solidFill>
              <a:srgbClr val="B18A5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47DAF4-0E74-459A-9874-FA7B0E97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4A1FA-4DE7-4C05-9EB3-7CD023B1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风险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302AB-340D-4A5F-AF98-DC6C04F3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E2B195-0F2E-47BC-BAE8-587D9EAD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37B7B9-F99E-48E0-8A39-57A82515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4BEF95-6479-481D-8B7F-200E25C2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队列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Queue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E3DF1-87E0-4DC8-AB9B-25CBE4CC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4322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D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73AAE8-5CBE-452B-9C45-927E7E61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7A68"/>
          </a:solidFill>
          <a:ln xmlns:a="http://schemas.openxmlformats.org/drawingml/2006/main" w="0">
            <a:solidFill>
              <a:srgbClr val="477A6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EC9A6A-B782-42B7-B767-BC6DC143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838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984763-884B-4685-BCEE-9E6093D4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099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审计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Audit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613050-5E2A-45FD-B796-4E90A050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203B4A"/>
                </a:solidFill>
                <a:latin typeface="SimSun"/>
                <a:ea typeface="SimSun"/>
                <a:cs typeface="SimSun"/>
              </a:defRPr>
            </a:pPr>
            <a:r>
              <a:rPr sz="1950" b="1">
                <a:solidFill>
                  <a:srgbClr val="203B4A"/>
                </a:solidFill>
                <a:latin typeface="SimSun"/>
                <a:ea typeface="SimSun"/>
                <a:cs typeface="SimSun"/>
              </a:rPr>
              <a:t>每一步都保留来源、特征覆盖、等级、动作与哈希。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F84BF7-792B-4B4B-B8A2-631F0258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500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当前交付为可离线运行的静态产品原型，读取 app/data/dashboard.json。</a:t>
            </a:r>
          </a:p>
        </p:txBody>
      </p:sp>
    </p:spTree>
    <p:extLst>
      <p:ext uri="{BB962C8B-B14F-4D97-AF65-F5344CB8AC3E}">
        <p14:creationId xmlns:p14="http://schemas.microsoft.com/office/powerpoint/2010/main" val="10967119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641821-6FF9-40BE-8287-D9F0AABE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477A68"/>
                </a:solidFill>
                <a:latin typeface="Times New Roman"/>
                <a:ea typeface="Times New Roman"/>
                <a:cs typeface="Times New Roman"/>
              </a:rPr>
              <a:t>TRUSTDATA / EVIDENCE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84D81-9172-46C8-ADE2-160C16F2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100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31529-3023-4688-84C2-C1A4D569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27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从基准验证走向平台试点：四步转换路径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5C0AA-82B1-4784-A358-2DE6657D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91E20C-ECAC-4D10-9711-E3043CAE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36D85-BE9F-4184-A027-27FBCD5A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公开数据复核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160573-8374-459E-B6DC-EE7E686D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125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已完成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62B703-373D-4151-91DA-AC79E07E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718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57C37-CE5F-4B85-863F-6D9A8058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A5C4E-44CA-40FC-B7FD-EFD535EB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分组稳健性复算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93DB21-EF5D-4FAA-A435-39B80E4D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125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已完成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FD924-101D-4965-B6B3-77A8EE89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718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005E7D-3D7A-4DBF-9B7B-0D9C47FA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2C2744-7C7B-4317-A231-351E9528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真实标注校准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5A7A1F-4FC4-43B3-9A81-E052F7EC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125" b="0">
                <a:solidFill>
                  <a:srgbClr val="477A68"/>
                </a:solidFill>
                <a:latin typeface="SimSun"/>
                <a:ea typeface="SimSun"/>
                <a:cs typeface="SimSun"/>
              </a:rPr>
              <a:t>下一阶段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A3A804-544C-4866-9397-C5692FF32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8A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B4AC2-50B2-4E3E-A350-88618652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146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18057D-89E1-4C93-9C32-2C9CF548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18342F"/>
                </a:solidFill>
                <a:latin typeface="SimSun"/>
                <a:ea typeface="SimSun"/>
                <a:cs typeface="SimSun"/>
              </a:rPr>
              <a:t>平台影子运行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B7699-D0C5-4821-8685-32C3F1B2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051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36E"/>
                </a:solidFill>
                <a:latin typeface="SimSun"/>
                <a:ea typeface="SimSun"/>
                <a:cs typeface="SimSun"/>
              </a:defRPr>
            </a:pPr>
            <a:r>
              <a:rPr sz="1125" b="0">
                <a:solidFill>
                  <a:srgbClr val="64736E"/>
                </a:solidFill>
                <a:latin typeface="SimSun"/>
                <a:ea typeface="SimSun"/>
                <a:cs typeface="SimSun"/>
              </a:rPr>
              <a:t>试点目标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8EE20-BCE2-4544-B432-1B848666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477A68"/>
                </a:solidFill>
                <a:latin typeface="SimSun"/>
                <a:ea typeface="SimSun"/>
                <a:cs typeface="SimSun"/>
              </a:defRPr>
            </a:pPr>
            <a:r>
              <a:rPr sz="1425" b="1">
                <a:solidFill>
                  <a:srgbClr val="477A68"/>
                </a:solidFill>
                <a:latin typeface="SimSun"/>
                <a:ea typeface="SimSun"/>
                <a:cs typeface="SimSun"/>
              </a:rPr>
              <a:t>关键补充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1EA709-FCF3-475C-838B-D4CE0C99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8342F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8342F"/>
                </a:solidFill>
                <a:latin typeface="SimSun"/>
                <a:ea typeface="SimSun"/>
                <a:cs typeface="SimSun"/>
              </a:rPr>
              <a:t>真实平台标注、跨平台偏移、阈值与误报成本、处置后复盘。</a:t>
            </a:r>
          </a:p>
        </p:txBody>
      </p:sp>
    </p:spTree>
    <p:extLst>
      <p:ext uri="{BB962C8B-B14F-4D97-AF65-F5344CB8AC3E}">
        <p14:creationId xmlns:p14="http://schemas.microsoft.com/office/powerpoint/2010/main" val="15253291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834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0FA15-69FB-40FA-BAD3-252B9457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8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962C3-F4E8-4734-81BA-867CD74D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5720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18A54"/>
                </a:solidFill>
                <a:latin typeface="Times New Roman"/>
                <a:ea typeface="Times New Roman"/>
                <a:cs typeface="Times New Roman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4DFA8-D80D-4684-9AB7-018A0439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SimSun"/>
                <a:ea typeface="SimSun"/>
                <a:cs typeface="SimSun"/>
              </a:defRPr>
            </a:pPr>
            <a:r>
              <a:rPr sz="3150" b="1">
                <a:solidFill>
                  <a:srgbClr val="FFFFFF"/>
                </a:solidFill>
                <a:latin typeface="SimSun"/>
                <a:ea typeface="SimSun"/>
                <a:cs typeface="SimSun"/>
              </a:rPr>
              <a:t>交付内容由使用证据、评测结果与处置路径共同构成。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B781D4-8583-4B49-8AE4-F62BC475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9E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DCE9E1"/>
                </a:solidFill>
                <a:latin typeface="SimSun"/>
                <a:ea typeface="SimSun"/>
                <a:cs typeface="SimSun"/>
              </a:rPr>
              <a:t>数据资产清单  ·  受控评测基准  ·  可解释算法  ·  产品原型  ·  申报材料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6B3336-CBD2-4F71-8CC4-7D94397C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B7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B737D-2666-4046-ACA3-E3F80C50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18A54"/>
                </a:solidFill>
                <a:latin typeface="SimSun"/>
                <a:ea typeface="SimSun"/>
                <a:cs typeface="SimSun"/>
              </a:defRPr>
            </a:pPr>
            <a:r>
              <a:rPr sz="1500" b="1">
                <a:solidFill>
                  <a:srgbClr val="B18A54"/>
                </a:solidFill>
                <a:latin typeface="SimSun"/>
                <a:ea typeface="SimSun"/>
                <a:cs typeface="SimSun"/>
              </a:rPr>
              <a:t>请求评审关注：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4B9D3-DE97-4F85-8433-443911B3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243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SimSun"/>
                <a:ea typeface="SimSun"/>
                <a:cs typeface="SimSun"/>
              </a:defRPr>
            </a:pPr>
            <a:r>
              <a:rPr sz="1800" b="1">
                <a:solidFill>
                  <a:srgbClr val="FFFFFF"/>
                </a:solidFill>
                <a:latin typeface="SimSun"/>
                <a:ea typeface="SimSun"/>
                <a:cs typeface="SimSun"/>
              </a:rPr>
              <a:t>真实平台试点所需条件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84D15-FA1D-40E9-92D1-93494CE4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FFFFFF"/>
                </a:solidFill>
                <a:latin typeface="SimSun"/>
                <a:ea typeface="SimSun"/>
                <a:cs typeface="SimSun"/>
              </a:rPr>
              <a:t>谢谢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CC52E2-7B57-4809-8EA1-2CD60D8D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816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0">
                <a:solidFill>
                  <a:srgbClr val="C6D5C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C6D5CD"/>
                </a:solidFill>
                <a:latin typeface="Times New Roman"/>
                <a:ea typeface="Times New Roman"/>
                <a:cs typeface="Times New Roman"/>
              </a:rPr>
              <a:t>TrustData / E2</a:t>
            </a:r>
          </a:p>
        </p:txBody>
      </p:sp>
    </p:spTree>
    <p:extLst>
      <p:ext uri="{BB962C8B-B14F-4D97-AF65-F5344CB8AC3E}">
        <p14:creationId xmlns:p14="http://schemas.microsoft.com/office/powerpoint/2010/main" val="19469250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2026-08-29T01:18:15.7670000Z</dcterms:created>
  <dcterms:modified xsi:type="dcterms:W3CDTF">2026-08-29T01:18:15.7670000Z</dcterms:modified>
</coreProperties>
</file>