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开场说明项目边界：这里评估 UGC 数据在使用过程中的风险；内容真实性与生成来源由独立流程核验。全套材料的数字均可回到运行产物与哈希清单。</a:t>
            </a:r>
          </a:p>
          <a:p/>
          <a:p>
            <a:r>
              <a:t>[Sources]</a:t>
            </a:r>
          </a:p>
          <a:p>
            <a:r>
              <a:t>- Internal evidence: docs/01_COMPETITION_STRATEGY.md</a:t>
            </a:r>
          </a:p>
          <a:p>
            <a:r>
              <a:t>- Internal evidence: competition/evidence/INDEX.md</a:t>
            </a:r>
          </a:p>
          <a:p>
            <a:r>
              <a:t>- https://www.xyxzds.com/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本页将评审关注点收束到三个可检验维度：证据完整度、信号区分度和动作记录完整度。</a:t>
            </a:r>
          </a:p>
          <a:p/>
          <a:p>
            <a:r>
              <a:t>[Sources]</a:t>
            </a:r>
          </a:p>
          <a:p>
            <a:r>
              <a:t>- Internal evidence: docs/03_ALGORITHM_AND_METHODS.md</a:t>
            </a:r>
          </a:p>
          <a:p>
            <a:r>
              <a:t>- Internal evidence: docs/04_EVALUATION_AND_LIMITS.md</a:t>
            </a:r>
          </a:p>
          <a:p>
            <a:r>
              <a:t>- https://www.iso.org/standard/81088.html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边界说明用于控制结论范围。项目输出风险分层与证据覆盖情况，平台或研究者结合业务规则完成最终判断。</a:t>
            </a:r>
          </a:p>
          <a:p/>
          <a:p>
            <a:r>
              <a:t>[Sources]</a:t>
            </a:r>
          </a:p>
          <a:p>
            <a:r>
              <a:t>- Internal evidence: docs/04_EVALUATION_AND_LIMITS.md</a:t>
            </a:r>
          </a:p>
          <a:p>
            <a:r>
              <a:t>- Internal evidence: materials/APPLICATION_DRAFT.md</a:t>
            </a:r>
          </a:p>
          <a:p>
            <a:r>
              <a:t>- https://www.cac.gov.cn/2025-03/14/c_1743654684782215.htm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五类特征分别对应来源、行为、内容、跨来源与时间结构，均可在护照与审计记录中回溯。</a:t>
            </a:r>
          </a:p>
          <a:p/>
          <a:p>
            <a:r>
              <a:t>[Sources]</a:t>
            </a:r>
          </a:p>
          <a:p>
            <a:r>
              <a:t>- Internal evidence: src/trustdata/features.py</a:t>
            </a:r>
          </a:p>
          <a:p>
            <a:r>
              <a:t>- Internal evidence: src/trustdata/scoring.py</a:t>
            </a:r>
          </a:p>
          <a:p>
            <a:r>
              <a:t>- Internal evidence: docs/03_ALGORITHM_AND_METHODS.md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本页展示评分设计的可解释性：场景差异通过显式权重呈现。实际应用时，权重需要在目标平台上以历史标注和误报成本校准。</a:t>
            </a:r>
          </a:p>
          <a:p/>
          <a:p>
            <a:r>
              <a:t>[Sources]</a:t>
            </a:r>
          </a:p>
          <a:p>
            <a:r>
              <a:t>- Internal evidence: src/trustdata/scoring.py</a:t>
            </a:r>
          </a:p>
          <a:p>
            <a:r>
              <a:t>- Internal evidence: configs/trust.yaml</a:t>
            </a:r>
          </a:p>
          <a:p>
            <a:r>
              <a:t>- Internal evidence: docs/04_EVALUATION_AND_LIMITS.md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数据清单区分公开来源与受控基准。受控污染属于方法验证标签，用于检验系统对已知扰动的敏感性；平台真实标注将在试点阶段获取。</a:t>
            </a:r>
          </a:p>
          <a:p/>
          <a:p>
            <a:r>
              <a:t>[Sources]</a:t>
            </a:r>
          </a:p>
          <a:p>
            <a:r>
              <a:t>- Internal evidence: docs/02_DATA_ASSETS.md</a:t>
            </a:r>
          </a:p>
          <a:p>
            <a:r>
              <a:t>- Internal evidence: competition/evidence/INDEX.md</a:t>
            </a:r>
          </a:p>
          <a:p>
            <a:r>
              <a:t>- Internal evidence: outputs/runs/latest/run_manifest.json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评测设置同时覆盖分类、概率校准、排序与分组切分敏感性。阈值依据清洁样本的误报约束确定。五次复算共享同一受控基准，检验贡献者分组变化带来的波动。</a:t>
            </a:r>
          </a:p>
          <a:p/>
          <a:p>
            <a:r>
              <a:t>[Sources]</a:t>
            </a:r>
          </a:p>
          <a:p>
            <a:r>
              <a:t>- Internal evidence: src/trustdata/evaluation.py</a:t>
            </a:r>
          </a:p>
          <a:p>
            <a:r>
              <a:t>- Internal evidence: docs/04_EVALUATION_AND_LIMITS.md</a:t>
            </a:r>
          </a:p>
          <a:p>
            <a:r>
              <a:t>- Internal evidence: outputs/runs/latest/classification_metrics.csv</a:t>
            </a:r>
          </a:p>
          <a:p>
            <a:r>
              <a:t>- Internal evidence: outputs/runs/latest/split_sensitivity_summary.csv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图中报告受控污染基准结果。30% 水平的精度、召回率与 AUPRC 来自主运行产物；五次贡献者分组复算的 F1 范围为 0.7451—0.7622。真实平台效果将在试点数据上独立评估。</a:t>
            </a:r>
          </a:p>
          <a:p/>
          <a:p>
            <a:r>
              <a:t>[Sources]</a:t>
            </a:r>
          </a:p>
          <a:p>
            <a:r>
              <a:t>- Internal evidence: competition/evidence/figures/risk_detection_by_contamination.png</a:t>
            </a:r>
          </a:p>
          <a:p>
            <a:r>
              <a:t>- Internal evidence: outputs/runs/latest/classification_metrics.csv</a:t>
            </a:r>
          </a:p>
          <a:p>
            <a:r>
              <a:t>- Internal evidence: outputs/runs/latest/split_sensitivity_summary.csv</a:t>
            </a:r>
          </a:p>
          <a:p>
            <a:r>
              <a:t>- Internal evidence: docs/04_EVALUATION_AND_LIMITS.md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平均排名误差与 Top-100 保留率分别报告。加权排序在 20%—30% 污染下降低平均名次误差，在 5%—30% 污染下提高 Top-100 保留率；1% 污染下两项指标均下降，因此采用监测与人工复核策略。</a:t>
            </a:r>
          </a:p>
          <a:p/>
          <a:p>
            <a:r>
              <a:t>[Sources]</a:t>
            </a:r>
          </a:p>
          <a:p>
            <a:r>
              <a:t>- Internal evidence: competition/evidence/figures/ranking_robustness.png</a:t>
            </a:r>
          </a:p>
          <a:p>
            <a:r>
              <a:t>- Internal evidence: outputs/runs/latest/ranking_metrics.csv</a:t>
            </a:r>
          </a:p>
          <a:p>
            <a:r>
              <a:t>- Internal evidence: docs/04_EVALUATION_AND_LIMITS.md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演示时从总览进入单条护照，再进入风险队列与审计视图。该路径展示结论、证据与处置记录之间的对应关系。</a:t>
            </a:r>
          </a:p>
          <a:p/>
          <a:p>
            <a:r>
              <a:t>[Sources]</a:t>
            </a:r>
          </a:p>
          <a:p>
            <a:r>
              <a:t>- Internal evidence: product/index.html</a:t>
            </a:r>
          </a:p>
          <a:p>
            <a:r>
              <a:t>- Internal evidence: product/app.js</a:t>
            </a:r>
          </a:p>
          <a:p>
            <a:r>
              <a:t>- Internal evidence: docs/06_PRODUCT_AND_ARCHITECTURE.md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这页把当前成果与下一步区分开。当前基准验证已经形成可复核证据；真实平台试点需要合作方提供标注与影子运行环境。</a:t>
            </a:r>
          </a:p>
          <a:p/>
          <a:p>
            <a:r>
              <a:t>[Sources]</a:t>
            </a:r>
          </a:p>
          <a:p>
            <a:r>
              <a:t>- Internal evidence: docs/01_COMPETITION_STRATEGY.md</a:t>
            </a:r>
          </a:p>
          <a:p>
            <a:r>
              <a:t>- Internal evidence: docs/04_EVALUATION_AND_LIMITS.md</a:t>
            </a:r>
          </a:p>
          <a:p>
            <a:r>
              <a:t>- Internal evidence: materials/APPLICATION_DRAFT.md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结尾回到可验证性和下一步。受控基准结果按 E2 证据等级表述；讨论重点转向真实标注与试点条件。</a:t>
            </a:r>
          </a:p>
          <a:p/>
          <a:p>
            <a:r>
              <a:t>[Sources]</a:t>
            </a:r>
          </a:p>
          <a:p>
            <a:r>
              <a:t>- Internal evidence: competition/evidence/INDEX.md</a:t>
            </a:r>
          </a:p>
          <a:p>
            <a:r>
              <a:t>- Internal evidence: docs/07_REPRODUCIBILITY_AND_EVIDENCE.md</a:t>
            </a:r>
          </a:p>
          <a:p>
            <a:r>
              <a:t>- https://jw.nju.edu.cn/d9/36/c26263a842038/page.htm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77A68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95350" cy="47625"/>
          </a:xfrm>
          <a:prstGeom prst="rect">
            <a:avLst/>
          </a:prstGeom>
          <a:solidFill>
            <a:srgbClr val="B18A5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7715" y="843280"/>
            <a:ext cx="9661525" cy="10756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9562"/>
          </a:bodyPr>
          <a:lstStyle/>
          <a:p>
            <a:pPr algn="l">
              <a:lnSpc>
                <a:spcPct val="108000"/>
              </a:lnSpc>
              <a:buNone/>
              <a:defRPr sz="465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5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</a:t>
            </a:r>
            <a:r>
              <a:rPr lang="zh-CN" sz="4650" b="1">
                <a:solidFill>
                  <a:srgbClr val="18342F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：</a:t>
            </a:r>
            <a:r>
              <a:rPr sz="4500">
                <a:sym typeface="+mn-ea"/>
              </a:rPr>
              <a:t>面向众包内容平台的用户评价数据可信评估与分级系统</a:t>
            </a:r>
            <a:endParaRPr sz="4500" b="1">
              <a:solidFill>
                <a:srgbClr val="18342F"/>
              </a:solidFill>
            </a:endParaRPr>
          </a:p>
          <a:p>
            <a:pPr algn="l">
              <a:lnSpc>
                <a:spcPct val="108000"/>
              </a:lnSpc>
              <a:buNone/>
              <a:defRPr sz="465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lang="zh-CN" sz="4500" b="1">
              <a:solidFill>
                <a:srgbClr val="18342F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2060575"/>
            <a:ext cx="6085205" cy="459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en-US" sz="25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</a:t>
            </a:r>
            <a:r>
              <a:rPr sz="25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UGC 数据使用风险的可解释评估与分级</a:t>
            </a:r>
            <a:endParaRPr sz="255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7813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新域新质创新大赛｜项目路演稿</a:t>
            </a:r>
            <a:endParaRPr sz="1500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367665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以可复核证据连接数据、模型与处置</a:t>
            </a:r>
            <a:endParaRPr sz="1800" b="0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4476750"/>
            <a:ext cx="495300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47244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南京大学本科生项目组</a:t>
            </a:r>
            <a:endParaRPr sz="1350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51054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TECHNICAL PRESENTATION</a:t>
            </a:r>
            <a:endParaRPr sz="1275" b="0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0" y="4495800"/>
            <a:ext cx="152400" cy="457200"/>
          </a:xfrm>
          <a:prstGeom prst="rect">
            <a:avLst/>
          </a:prstGeom>
          <a:solidFill>
            <a:srgbClr val="DCE9E1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163050" y="4305300"/>
            <a:ext cx="152400" cy="647700"/>
          </a:xfrm>
          <a:prstGeom prst="rect">
            <a:avLst/>
          </a:prstGeom>
          <a:solidFill>
            <a:srgbClr val="DCE9E1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63100" y="4114800"/>
            <a:ext cx="152400" cy="838200"/>
          </a:xfrm>
          <a:prstGeom prst="rect">
            <a:avLst/>
          </a:prstGeom>
          <a:solidFill>
            <a:srgbClr val="B18A54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963150" y="3924300"/>
            <a:ext cx="152400" cy="1028700"/>
          </a:xfrm>
          <a:prstGeom prst="rect">
            <a:avLst/>
          </a:prstGeom>
          <a:solidFill>
            <a:srgbClr val="DCE9E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363200" y="3733800"/>
            <a:ext cx="152400" cy="1219200"/>
          </a:xfrm>
          <a:prstGeom prst="rect">
            <a:avLst/>
          </a:prstGeom>
          <a:solidFill>
            <a:srgbClr val="DCE9E1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88705" y="2493010"/>
            <a:ext cx="257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27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USE RISK</a:t>
            </a:r>
            <a:endParaRPr sz="1275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20000"/>
              </a:lnSpc>
              <a:buNone/>
              <a:defRPr sz="127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EVIDENCE / CONTROL / TRACEABILITY</a:t>
            </a:r>
            <a:endParaRPr sz="1275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763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核心问题：数据如何使用，依据如何说明</a:t>
            </a:r>
            <a:endParaRPr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18859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UGC 进入分析、推荐与运营流程后，风险常以局部信号出现：</a:t>
            </a:r>
            <a:endParaRPr sz="1650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781050" y="2562225"/>
            <a:ext cx="133350" cy="133350"/>
          </a:xfrm>
          <a:prstGeom prst="ellipse">
            <a:avLst/>
          </a:prstGeom>
          <a:solidFill>
            <a:srgbClr val="B18A54"/>
          </a:solidFill>
          <a:ln w="0">
            <a:solidFill>
              <a:srgbClr val="B18A5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4765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65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来源与授权记录不完整</a:t>
            </a:r>
            <a:endParaRPr sz="202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781050" y="3343275"/>
            <a:ext cx="133350" cy="133350"/>
          </a:xfrm>
          <a:prstGeom prst="ellipse">
            <a:avLst/>
          </a:prstGeom>
          <a:solidFill>
            <a:srgbClr val="9B5C55"/>
          </a:solidFill>
          <a:ln w="0">
            <a:solidFill>
              <a:srgbClr val="9B5C5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43000" y="32575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65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异常行为被平均值掩盖</a:t>
            </a:r>
            <a:endParaRPr sz="202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781050" y="4124325"/>
            <a:ext cx="133350" cy="133350"/>
          </a:xfrm>
          <a:prstGeom prst="ellipse">
            <a:avLst/>
          </a:prstGeom>
          <a:solidFill>
            <a:srgbClr val="477A68"/>
          </a:solidFill>
          <a:ln w="0">
            <a:solidFill>
              <a:srgbClr val="477A6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" y="40386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65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高风险样本缺少处置依据</a:t>
            </a:r>
            <a:endParaRPr sz="202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334250" y="20478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证据链</a:t>
            </a:r>
            <a:endParaRPr sz="1350" b="1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34250" y="2781300"/>
            <a:ext cx="800100" cy="457200"/>
          </a:xfrm>
          <a:prstGeom prst="rect">
            <a:avLst/>
          </a:prstGeom>
          <a:solidFill>
            <a:srgbClr val="EEF2E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10450" y="28956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数据资产</a:t>
            </a:r>
            <a:endParaRPr sz="112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8134350" y="3009900"/>
            <a:ext cx="190500" cy="0"/>
          </a:xfrm>
          <a:prstGeom prst="line">
            <a:avLst/>
          </a:prstGeom>
          <a:noFill/>
          <a:ln w="19050">
            <a:solidFill>
              <a:srgbClr val="B18A5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24850" y="2781300"/>
            <a:ext cx="800100" cy="457200"/>
          </a:xfrm>
          <a:prstGeom prst="rect">
            <a:avLst/>
          </a:prstGeom>
          <a:solidFill>
            <a:srgbClr val="EEF2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401050" y="28956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特征证据</a:t>
            </a:r>
            <a:endParaRPr sz="112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9124950" y="3009900"/>
            <a:ext cx="190500" cy="0"/>
          </a:xfrm>
          <a:prstGeom prst="line">
            <a:avLst/>
          </a:prstGeom>
          <a:noFill/>
          <a:ln w="19050">
            <a:solidFill>
              <a:srgbClr val="B18A5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315450" y="2781300"/>
            <a:ext cx="800100" cy="457200"/>
          </a:xfrm>
          <a:prstGeom prst="rect">
            <a:avLst/>
          </a:prstGeom>
          <a:solidFill>
            <a:srgbClr val="DCE9E1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391650" y="28956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分级结果</a:t>
            </a:r>
            <a:endParaRPr sz="112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10115550" y="3009900"/>
            <a:ext cx="190500" cy="0"/>
          </a:xfrm>
          <a:prstGeom prst="line">
            <a:avLst/>
          </a:prstGeom>
          <a:noFill/>
          <a:ln w="19050">
            <a:solidFill>
              <a:srgbClr val="B18A5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306050" y="2781300"/>
            <a:ext cx="800100" cy="457200"/>
          </a:xfrm>
          <a:prstGeom prst="rect">
            <a:avLst/>
          </a:prstGeom>
          <a:solidFill>
            <a:srgbClr val="EEF2ED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382250" y="28956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2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处置记录</a:t>
            </a:r>
            <a:endParaRPr sz="112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334250" y="38862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203B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203B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可复核的判断，才可进入业务流程。</a:t>
            </a:r>
            <a:endParaRPr sz="1725" b="1">
              <a:solidFill>
                <a:srgbClr val="203B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763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项目边界：数据使用风险评估与独立核验流程</a:t>
            </a:r>
            <a:endParaRPr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9812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当前版本回答三个问题</a:t>
            </a:r>
            <a:endParaRPr sz="1500" b="1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5527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15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" y="2552700"/>
            <a:ext cx="466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来源与过程证据的可用程度</a:t>
            </a:r>
            <a:endParaRPr sz="1650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409700" y="3105150"/>
            <a:ext cx="455295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32956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15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09700" y="3295650"/>
            <a:ext cx="466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异常信号的跨时间、主体与来源一致程度</a:t>
            </a:r>
            <a:endParaRPr sz="1650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409700" y="3848100"/>
            <a:ext cx="455295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40386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15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09700" y="4038600"/>
            <a:ext cx="466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不同风险水平对应的复核动作</a:t>
            </a:r>
            <a:endParaRPr sz="1650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409700" y="4591050"/>
            <a:ext cx="455295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77100" y="2038350"/>
            <a:ext cx="3810000" cy="2609850"/>
          </a:xfrm>
          <a:prstGeom prst="rect">
            <a:avLst/>
          </a:prstGeom>
          <a:solidFill>
            <a:srgbClr val="EEF2ED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20000" y="2381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9B5C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9B5C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由独立流程承担</a:t>
            </a:r>
            <a:endParaRPr sz="1575" b="1">
              <a:solidFill>
                <a:srgbClr val="9B5C5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20000" y="291465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973"/>
          </a:bodyPr>
          <a:lstStyle/>
          <a:p>
            <a:pPr algn="l">
              <a:lnSpc>
                <a:spcPct val="130000"/>
              </a:lnSpc>
              <a:buNone/>
              <a:def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内容真实性核验</a:t>
            </a:r>
            <a:endParaRPr sz="1725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None/>
              <a:def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生成来源判别</a:t>
            </a:r>
            <a:endParaRPr sz="1725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None/>
              <a:def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平台线上自动拦截</a:t>
            </a:r>
            <a:endParaRPr sz="1725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None/>
              <a:def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法律责任认定</a:t>
            </a:r>
            <a:endParaRPr sz="1725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77100" y="51054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03B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03B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边界清楚，结论才可被正确使用。</a:t>
            </a:r>
            <a:endParaRPr sz="1575" b="1">
              <a:solidFill>
                <a:srgbClr val="203B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763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五类证据进入同一条可解释评分链</a:t>
            </a:r>
            <a:endParaRPr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819150" y="2419350"/>
            <a:ext cx="514350" cy="514350"/>
          </a:xfrm>
          <a:prstGeom prst="ellipse">
            <a:avLst/>
          </a:prstGeom>
          <a:solidFill>
            <a:srgbClr val="477A68"/>
          </a:solidFill>
          <a:ln w="0">
            <a:solidFill>
              <a:srgbClr val="477A6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66850" y="234315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来源完整性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552700" y="2676525"/>
            <a:ext cx="41910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2971800" y="2419350"/>
            <a:ext cx="514350" cy="514350"/>
          </a:xfrm>
          <a:prstGeom prst="ellipse">
            <a:avLst/>
          </a:prstGeom>
          <a:solidFill>
            <a:srgbClr val="203B4A"/>
          </a:solidFill>
          <a:ln w="0">
            <a:solidFill>
              <a:srgbClr val="203B4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19500" y="234315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行为稳定性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4705350" y="2676525"/>
            <a:ext cx="41910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5124450" y="2419350"/>
            <a:ext cx="514350" cy="514350"/>
          </a:xfrm>
          <a:prstGeom prst="ellipse">
            <a:avLst/>
          </a:prstGeom>
          <a:solidFill>
            <a:srgbClr val="B18A54"/>
          </a:solidFill>
          <a:ln w="0">
            <a:solidFill>
              <a:srgbClr val="B18A5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72150" y="234315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内容相似性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858000" y="2676525"/>
            <a:ext cx="41910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7277100" y="2419350"/>
            <a:ext cx="514350" cy="514350"/>
          </a:xfrm>
          <a:prstGeom prst="ellipse">
            <a:avLst/>
          </a:prstGeom>
          <a:solidFill>
            <a:srgbClr val="9B5C55"/>
          </a:solidFill>
          <a:ln w="0">
            <a:solidFill>
              <a:srgbClr val="9B5C5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924800" y="234315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跨源一致性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9010650" y="2676525"/>
            <a:ext cx="41910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9429750" y="2419350"/>
            <a:ext cx="514350" cy="514350"/>
          </a:xfrm>
          <a:prstGeom prst="ellipse">
            <a:avLst/>
          </a:prstGeom>
          <a:solidFill>
            <a:srgbClr val="477A68"/>
          </a:solidFill>
          <a:ln w="0">
            <a:solidFill>
              <a:srgbClr val="477A6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077450" y="234315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时间结构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37528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证据向量</a:t>
            </a:r>
            <a:endParaRPr sz="1275" b="1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41148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 / B / C / X / T  →  场景权重  →  DTS  →  置信度与动作</a:t>
            </a:r>
            <a:endParaRPr sz="2100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481965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不同场景使用不同权重；每条结果保留证据覆盖、风险等级与复核建议。</a:t>
            </a:r>
            <a:endParaRPr sz="1575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763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场景化 DTS：同一份数据，在不同任务中有不同风险</a:t>
            </a:r>
            <a:endParaRPr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095500"/>
            <a:ext cx="400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70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DTS = Σ wₖ·Eₖ</a:t>
            </a:r>
            <a:endParaRPr sz="2700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7813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权重向量随任务切换，证据项保持一致。</a:t>
            </a:r>
            <a:endParaRPr sz="1575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381750" y="1962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研究分析</a:t>
            </a:r>
            <a:endParaRPr sz="135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15100" y="3870960"/>
            <a:ext cx="171450" cy="986790"/>
          </a:xfrm>
          <a:prstGeom prst="rect">
            <a:avLst/>
          </a:prstGeom>
          <a:solidFill>
            <a:srgbClr val="477A6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53225" y="4293870"/>
            <a:ext cx="171450" cy="563880"/>
          </a:xfrm>
          <a:prstGeom prst="rect">
            <a:avLst/>
          </a:prstGeom>
          <a:solidFill>
            <a:srgbClr val="203B4A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991350" y="4011930"/>
            <a:ext cx="171450" cy="845820"/>
          </a:xfrm>
          <a:prstGeom prst="rect">
            <a:avLst/>
          </a:prstGeom>
          <a:solidFill>
            <a:srgbClr val="B18A54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29475" y="4223385"/>
            <a:ext cx="171450" cy="634365"/>
          </a:xfrm>
          <a:prstGeom prst="rect">
            <a:avLst/>
          </a:prstGeom>
          <a:solidFill>
            <a:srgbClr val="9B5C55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67600" y="4364355"/>
            <a:ext cx="171450" cy="493395"/>
          </a:xfrm>
          <a:prstGeom prst="rect">
            <a:avLst/>
          </a:prstGeom>
          <a:solidFill>
            <a:srgbClr val="DCE9E1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29350" y="5048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473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0">
                <a:solidFill>
                  <a:srgbClr val="6473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0.28  0.16  0.24  0.18  0.14</a:t>
            </a:r>
            <a:endParaRPr sz="975" b="0">
              <a:solidFill>
                <a:srgbClr val="64736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01000" y="1962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内容分发</a:t>
            </a:r>
            <a:endParaRPr sz="135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34350" y="4364355"/>
            <a:ext cx="171450" cy="493395"/>
          </a:xfrm>
          <a:prstGeom prst="rect">
            <a:avLst/>
          </a:prstGeom>
          <a:solidFill>
            <a:srgbClr val="477A68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72475" y="3870960"/>
            <a:ext cx="171450" cy="986790"/>
          </a:xfrm>
          <a:prstGeom prst="rect">
            <a:avLst/>
          </a:prstGeom>
          <a:solidFill>
            <a:srgbClr val="203B4A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610600" y="4152900"/>
            <a:ext cx="171450" cy="704850"/>
          </a:xfrm>
          <a:prstGeom prst="rect">
            <a:avLst/>
          </a:prstGeom>
          <a:solidFill>
            <a:srgbClr val="B18A54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848725" y="4293870"/>
            <a:ext cx="171450" cy="563880"/>
          </a:xfrm>
          <a:prstGeom prst="rect">
            <a:avLst/>
          </a:prstGeom>
          <a:solidFill>
            <a:srgbClr val="9B5C55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086850" y="4082415"/>
            <a:ext cx="171450" cy="775335"/>
          </a:xfrm>
          <a:prstGeom prst="rect">
            <a:avLst/>
          </a:prstGeom>
          <a:solidFill>
            <a:srgbClr val="DCE9E1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48600" y="5048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473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0">
                <a:solidFill>
                  <a:srgbClr val="6473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0.14  0.28  0.20  0.16  0.22</a:t>
            </a:r>
            <a:endParaRPr sz="975" b="0">
              <a:solidFill>
                <a:srgbClr val="64736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620250" y="1962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运营决策</a:t>
            </a:r>
            <a:endParaRPr sz="135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753600" y="4152900"/>
            <a:ext cx="171450" cy="704850"/>
          </a:xfrm>
          <a:prstGeom prst="rect">
            <a:avLst/>
          </a:prstGeom>
          <a:solidFill>
            <a:srgbClr val="477A68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991725" y="4082415"/>
            <a:ext cx="171450" cy="775335"/>
          </a:xfrm>
          <a:prstGeom prst="rect">
            <a:avLst/>
          </a:prstGeom>
          <a:solidFill>
            <a:srgbClr val="203B4A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229850" y="4223385"/>
            <a:ext cx="171450" cy="634365"/>
          </a:xfrm>
          <a:prstGeom prst="rect">
            <a:avLst/>
          </a:prstGeom>
          <a:solidFill>
            <a:srgbClr val="B18A54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467975" y="3941445"/>
            <a:ext cx="171450" cy="916305"/>
          </a:xfrm>
          <a:prstGeom prst="rect">
            <a:avLst/>
          </a:prstGeom>
          <a:solidFill>
            <a:srgbClr val="9B5C55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706100" y="4364355"/>
            <a:ext cx="171450" cy="493395"/>
          </a:xfrm>
          <a:prstGeom prst="rect">
            <a:avLst/>
          </a:prstGeom>
          <a:solidFill>
            <a:srgbClr val="DCE9E1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467850" y="5048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473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0">
                <a:solidFill>
                  <a:srgbClr val="6473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0.20  0.22  0.18  0.26  0.14</a:t>
            </a:r>
            <a:endParaRPr sz="975" b="0">
              <a:solidFill>
                <a:srgbClr val="64736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9150" y="48196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权重表达证据在特定使用场景中的相对重要性。</a:t>
            </a:r>
            <a:endParaRPr sz="165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763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数据资产：可追溯的公开样本 + 受控污染基准</a:t>
            </a:r>
            <a:endParaRPr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0955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208,615</a:t>
            </a:r>
            <a:endParaRPr sz="2850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6670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原始观测记录</a:t>
            </a:r>
            <a:endParaRPr sz="1275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971800" y="2114550"/>
            <a:ext cx="9525" cy="0"/>
          </a:xfrm>
          <a:prstGeom prst="line">
            <a:avLst/>
          </a:prstGeom>
          <a:noFill/>
          <a:ln w="1047750">
            <a:solidFill>
              <a:srgbClr val="D7DDD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429000" y="20955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4,102</a:t>
            </a:r>
            <a:endParaRPr sz="2850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26670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zh-CN" altLang="en-US" sz="12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跨源对齐实体</a:t>
            </a:r>
            <a:endParaRPr lang="zh-CN" altLang="en-US" sz="1275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619750" y="2114550"/>
            <a:ext cx="9525" cy="0"/>
          </a:xfrm>
          <a:prstGeom prst="line">
            <a:avLst/>
          </a:prstGeom>
          <a:noFill/>
          <a:ln w="1047750">
            <a:solidFill>
              <a:srgbClr val="D7DD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76950" y="20955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5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30,000</a:t>
            </a:r>
            <a:endParaRPr sz="285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76950" y="26670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受控注入样本</a:t>
            </a:r>
            <a:endParaRPr sz="1275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8267700" y="2114550"/>
            <a:ext cx="9525" cy="0"/>
          </a:xfrm>
          <a:prstGeom prst="line">
            <a:avLst/>
          </a:prstGeom>
          <a:noFill/>
          <a:ln w="1047750">
            <a:solidFill>
              <a:srgbClr val="D7DDD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24900" y="20955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18</a:t>
            </a:r>
            <a:endParaRPr sz="2850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24900" y="26670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输入/输出哈希</a:t>
            </a:r>
            <a:endParaRPr sz="1275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781050" y="3467100"/>
            <a:ext cx="102870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38862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公开样本</a:t>
            </a:r>
            <a:endParaRPr sz="1425" b="1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2481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AOTY / Metacritic 历史评分、AOTY Top 5000、RYM Top 5000、已发布评论摘录</a:t>
            </a:r>
            <a:endParaRPr sz="1575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8196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18A5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B18A5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基准样本</a:t>
            </a:r>
            <a:endParaRPr sz="1425" b="1">
              <a:solidFill>
                <a:srgbClr val="B18A5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51816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行为操纵、协同行为、重复内容、时间突发、来源缺失；全部标记为 synthetic，仅用于评测</a:t>
            </a:r>
            <a:endParaRPr sz="1575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07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763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评测设计：把“变差多少”变成可重复的实验</a:t>
            </a:r>
            <a:endParaRPr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019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污染比例</a:t>
            </a:r>
            <a:endParaRPr sz="1350" b="1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952500" y="2714625"/>
            <a:ext cx="247650" cy="247650"/>
          </a:xfrm>
          <a:prstGeom prst="ellipse">
            <a:avLst/>
          </a:prstGeom>
          <a:solidFill>
            <a:srgbClr val="DCE9E1"/>
          </a:solidFill>
          <a:ln w="0">
            <a:solidFill>
              <a:srgbClr val="DCE9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31337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1%</a:t>
            </a:r>
            <a:endParaRPr sz="1200" b="1">
              <a:solidFill>
                <a:srgbClr val="18342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219200" y="2838450"/>
            <a:ext cx="144780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2667000" y="2714625"/>
            <a:ext cx="247650" cy="247650"/>
          </a:xfrm>
          <a:prstGeom prst="ellipse">
            <a:avLst/>
          </a:prstGeom>
          <a:solidFill>
            <a:srgbClr val="DCE9E1"/>
          </a:solidFill>
          <a:ln w="0">
            <a:solidFill>
              <a:srgbClr val="DCE9E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590800" y="31337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5%</a:t>
            </a:r>
            <a:endParaRPr sz="1200" b="1">
              <a:solidFill>
                <a:srgbClr val="18342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933700" y="2838450"/>
            <a:ext cx="144780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381500" y="2714625"/>
            <a:ext cx="247650" cy="247650"/>
          </a:xfrm>
          <a:prstGeom prst="ellipse">
            <a:avLst/>
          </a:prstGeom>
          <a:solidFill>
            <a:srgbClr val="DCE9E1"/>
          </a:solidFill>
          <a:ln w="0">
            <a:solidFill>
              <a:srgbClr val="DCE9E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05300" y="31337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10%</a:t>
            </a:r>
            <a:endParaRPr sz="1200" b="1">
              <a:solidFill>
                <a:srgbClr val="18342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648200" y="2838450"/>
            <a:ext cx="144780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6096000" y="2714625"/>
            <a:ext cx="247650" cy="247650"/>
          </a:xfrm>
          <a:prstGeom prst="ellipse">
            <a:avLst/>
          </a:prstGeom>
          <a:solidFill>
            <a:srgbClr val="DCE9E1"/>
          </a:solidFill>
          <a:ln w="0">
            <a:solidFill>
              <a:srgbClr val="DCE9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19800" y="31337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20%</a:t>
            </a:r>
            <a:endParaRPr sz="1200" b="1">
              <a:solidFill>
                <a:srgbClr val="18342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362700" y="2838450"/>
            <a:ext cx="144780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7810500" y="2714625"/>
            <a:ext cx="247650" cy="247650"/>
          </a:xfrm>
          <a:prstGeom prst="ellipse">
            <a:avLst/>
          </a:prstGeom>
          <a:solidFill>
            <a:srgbClr val="B18A54"/>
          </a:solidFill>
          <a:ln w="0">
            <a:solidFill>
              <a:srgbClr val="B18A5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734300" y="31337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34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30%</a:t>
            </a:r>
            <a:endParaRPr sz="1200" b="1">
              <a:solidFill>
                <a:srgbClr val="18342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3924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分组约束</a:t>
            </a:r>
            <a:endParaRPr sz="1350" b="1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42862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贡献者分组切分，5 个预设种子复算；每次训练、验证与测试均保持主体隔离。</a:t>
            </a:r>
            <a:endParaRPr sz="1650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49530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判定约束</a:t>
            </a:r>
            <a:endParaRPr sz="1350" b="1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9150" y="53149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阈值按清洁样本 FPR ≤ 1% 选择；同时报告 Brier、ECE、AUROC、AUPRC 与排序稳定性。</a:t>
            </a:r>
            <a:endParaRPr sz="1650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08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764540"/>
            <a:ext cx="11163300" cy="827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00"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检测性能：污染越强，分层识别越稳定</a:t>
            </a:r>
            <a:r>
              <a:rPr lang="en-US"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r>
              <a:rPr lang="zh-CN" altLang="en-US"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中高污染条件下，风险识别性能保持稳定</a:t>
            </a:r>
            <a:endParaRPr lang="zh-CN" altLang="en-US"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023051"/>
            <a:ext cx="6667500" cy="3821548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096250" y="23241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B18A5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B18A5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 污染</a:t>
            </a:r>
            <a:endParaRPr sz="1350" b="1">
              <a:solidFill>
                <a:srgbClr val="B18A5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0" y="2781300"/>
            <a:ext cx="266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98"/>
          </a:bodyPr>
          <a:lstStyle/>
          <a:p>
            <a:pPr algn="l">
              <a:lnSpc>
                <a:spcPct val="123000"/>
              </a:lnSpc>
              <a:buNone/>
              <a:defRPr sz="202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2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precision  0.992</a:t>
            </a:r>
            <a:endParaRPr sz="2025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23000"/>
              </a:lnSpc>
              <a:buNone/>
              <a:defRPr sz="202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2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recall     0.602</a:t>
            </a:r>
            <a:endParaRPr sz="2025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23000"/>
              </a:lnSpc>
              <a:buNone/>
              <a:defRPr sz="202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2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F1         0.750</a:t>
            </a:r>
            <a:endParaRPr sz="2025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23000"/>
              </a:lnSpc>
              <a:buNone/>
              <a:defRPr sz="202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25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AUPRC      0.949</a:t>
            </a:r>
            <a:endParaRPr sz="2025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8096250" y="4610100"/>
            <a:ext cx="27813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96250" y="4914900"/>
            <a:ext cx="3369310" cy="1049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 次分组复算：F1 0.745–0.762</a:t>
            </a:r>
            <a:endParaRPr sz="1500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主运行 FPR：0.17%</a:t>
            </a:r>
            <a:endParaRPr sz="1500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zh-CN"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注：</a:t>
            </a:r>
            <a:r>
              <a:rPr lang="en-US" altLang="zh-CN"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ppt</a:t>
            </a:r>
            <a:r>
              <a:rPr lang="zh-CN" altLang="en-US"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按三位小数展示</a:t>
            </a:r>
            <a:endParaRPr lang="zh-CN" altLang="en-US" sz="1500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09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763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排序权衡：中高污染改善，低污染优先监测</a:t>
            </a:r>
            <a:endParaRPr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281985"/>
            <a:ext cx="6572250" cy="3132229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020050" y="22479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B18A5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B18A5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 污染时</a:t>
            </a:r>
            <a:endParaRPr sz="1350" b="1">
              <a:solidFill>
                <a:srgbClr val="B18A5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20050" y="2724150"/>
            <a:ext cx="30003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87"/>
          </a:bodyPr>
          <a:lstStyle/>
          <a:p>
            <a:pPr algn="l">
              <a:lnSpc>
                <a:spcPct val="128000"/>
              </a:lnSpc>
              <a:buNone/>
              <a:defRPr sz="19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Spearman ρ  0.994</a:t>
            </a:r>
            <a:endParaRPr sz="1950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28000"/>
              </a:lnSpc>
              <a:buNone/>
              <a:defRPr sz="19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Top-100 overlap  0.70</a:t>
            </a:r>
            <a:endParaRPr sz="1950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28000"/>
              </a:lnSpc>
              <a:buNone/>
              <a:defRPr sz="19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203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MRE reduction  25.6%</a:t>
            </a:r>
            <a:endParaRPr sz="1950" b="1">
              <a:solidFill>
                <a:srgbClr val="203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20050" y="4362450"/>
            <a:ext cx="3124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12"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20%–30% 降低平均排名误差；5%–30% 提高 Top-100 保留率。1% 场景进入监测与人工复核。</a:t>
            </a:r>
            <a:endParaRPr sz="1500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763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产品交付：从总览到单条记录的审计路径</a:t>
            </a:r>
            <a:endParaRPr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838200" y="2724150"/>
            <a:ext cx="438150" cy="438150"/>
          </a:xfrm>
          <a:prstGeom prst="ellipse">
            <a:avLst/>
          </a:prstGeom>
          <a:solidFill>
            <a:srgbClr val="477A68"/>
          </a:solidFill>
          <a:ln w="0">
            <a:solidFill>
              <a:srgbClr val="477A6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42975" y="28384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09950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总览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Overview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295400" y="2943225"/>
            <a:ext cx="161925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2914650" y="2724150"/>
            <a:ext cx="438150" cy="438150"/>
          </a:xfrm>
          <a:prstGeom prst="ellipse">
            <a:avLst/>
          </a:prstGeom>
          <a:solidFill>
            <a:srgbClr val="477A68"/>
          </a:solidFill>
          <a:ln w="0">
            <a:solidFill>
              <a:srgbClr val="477A6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019425" y="28384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19400" y="3409950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护照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Passport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371850" y="2943225"/>
            <a:ext cx="161925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4991100" y="2724150"/>
            <a:ext cx="438150" cy="438150"/>
          </a:xfrm>
          <a:prstGeom prst="ellipse">
            <a:avLst/>
          </a:prstGeom>
          <a:solidFill>
            <a:srgbClr val="B18A54"/>
          </a:solidFill>
          <a:ln w="0">
            <a:solidFill>
              <a:srgbClr val="B18A5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095875" y="28384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95850" y="3409950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风险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Risk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448300" y="2943225"/>
            <a:ext cx="161925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7067550" y="2724150"/>
            <a:ext cx="438150" cy="438150"/>
          </a:xfrm>
          <a:prstGeom prst="ellipse">
            <a:avLst/>
          </a:prstGeom>
          <a:solidFill>
            <a:srgbClr val="477A68"/>
          </a:solidFill>
          <a:ln w="0">
            <a:solidFill>
              <a:srgbClr val="477A6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172325" y="28384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972300" y="3409950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队列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Queue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7524750" y="2943225"/>
            <a:ext cx="1619250" cy="0"/>
          </a:xfrm>
          <a:prstGeom prst="line">
            <a:avLst/>
          </a:prstGeom>
          <a:noFill/>
          <a:ln w="19050">
            <a:solidFill>
              <a:srgbClr val="D7DDD6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144000" y="2724150"/>
            <a:ext cx="438150" cy="438150"/>
          </a:xfrm>
          <a:prstGeom prst="ellipse">
            <a:avLst/>
          </a:prstGeom>
          <a:solidFill>
            <a:srgbClr val="477A68"/>
          </a:solidFill>
          <a:ln w="0">
            <a:solidFill>
              <a:srgbClr val="477A6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248775" y="2838450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endParaRPr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48750" y="3409950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审计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Audit</a:t>
            </a:r>
            <a:endParaRPr sz="1500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8200" y="4705350"/>
            <a:ext cx="809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203B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03B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每一步都保留来源、特征覆盖、等级、动作与哈希。</a:t>
            </a:r>
            <a:endParaRPr sz="1950" b="1">
              <a:solidFill>
                <a:srgbClr val="203B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8200" y="5276850"/>
            <a:ext cx="10889615" cy="7689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当前交付为可离线运行的静态产品原型，读取 app/data/dashboard.json</a:t>
            </a:r>
            <a:r>
              <a:rPr lang="zh-CN"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，且</a:t>
            </a:r>
            <a:r>
              <a:rPr lang="zh-CN" altLang="en-US"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已有 </a:t>
            </a:r>
            <a:r>
              <a:rPr lang="en-US" altLang="zh-CN"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product/dashboard-data.js </a:t>
            </a:r>
            <a:r>
              <a:rPr lang="zh-CN" altLang="en-US"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时可以直接打开 </a:t>
            </a:r>
            <a:r>
              <a:rPr lang="en-US" altLang="zh-CN"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product/index.html</a:t>
            </a:r>
            <a:r>
              <a:rPr lang="zh-CN" altLang="en-US" sz="1500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1500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477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477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EVIDENCE REVIEW</a:t>
            </a:r>
            <a:endParaRPr sz="1050" b="1">
              <a:solidFill>
                <a:srgbClr val="477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53750" y="38100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763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从基准验证走向平台试点：四步转换路径</a:t>
            </a:r>
            <a:endParaRPr sz="27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47700" y="1562100"/>
            <a:ext cx="10896600" cy="0"/>
          </a:xfrm>
          <a:prstGeom prst="line">
            <a:avLst/>
          </a:prstGeom>
          <a:noFill/>
          <a:ln w="9525">
            <a:solidFill>
              <a:srgbClr val="D7DDD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514600"/>
            <a:ext cx="2076450" cy="914400"/>
          </a:xfrm>
          <a:prstGeom prst="rect">
            <a:avLst/>
          </a:prstGeom>
          <a:solidFill>
            <a:srgbClr val="EEF2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724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公开数据复核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105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2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125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895600" y="2971800"/>
            <a:ext cx="495300" cy="0"/>
          </a:xfrm>
          <a:prstGeom prst="line">
            <a:avLst/>
          </a:prstGeom>
          <a:noFill/>
          <a:ln w="19050">
            <a:solidFill>
              <a:srgbClr val="B18A5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390900" y="2514600"/>
            <a:ext cx="2076450" cy="914400"/>
          </a:xfrm>
          <a:prstGeom prst="rect">
            <a:avLst/>
          </a:prstGeom>
          <a:solidFill>
            <a:srgbClr val="EEF2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562350" y="2724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分组稳健性复算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62350" y="3105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2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125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467350" y="2971800"/>
            <a:ext cx="495300" cy="0"/>
          </a:xfrm>
          <a:prstGeom prst="line">
            <a:avLst/>
          </a:prstGeom>
          <a:noFill/>
          <a:ln w="19050">
            <a:solidFill>
              <a:srgbClr val="B18A5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962650" y="2514600"/>
            <a:ext cx="2076450" cy="914400"/>
          </a:xfrm>
          <a:prstGeom prst="rect">
            <a:avLst/>
          </a:prstGeom>
          <a:solidFill>
            <a:srgbClr val="DCE9E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134100" y="2724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真实标注校准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34100" y="3105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25" b="0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下一阶段</a:t>
            </a:r>
            <a:endParaRPr sz="1125" b="0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8039100" y="2971800"/>
            <a:ext cx="495300" cy="0"/>
          </a:xfrm>
          <a:prstGeom prst="line">
            <a:avLst/>
          </a:prstGeom>
          <a:noFill/>
          <a:ln w="19050">
            <a:solidFill>
              <a:srgbClr val="B18A5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2514600"/>
            <a:ext cx="2076450" cy="914400"/>
          </a:xfrm>
          <a:prstGeom prst="rect">
            <a:avLst/>
          </a:prstGeom>
          <a:solidFill>
            <a:srgbClr val="EEF2ED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05850" y="2724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平台影子运行</a:t>
            </a:r>
            <a:endParaRPr sz="1575" b="1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05850" y="3105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25" b="0">
                <a:solidFill>
                  <a:srgbClr val="6473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试点目标</a:t>
            </a:r>
            <a:endParaRPr sz="1125" b="0">
              <a:solidFill>
                <a:srgbClr val="6473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43624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477A6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关键补充</a:t>
            </a:r>
            <a:endParaRPr sz="1425" b="1">
              <a:solidFill>
                <a:srgbClr val="477A6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47625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1834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真实平台标注、跨平台偏移、阈值与误报成本、处置后复盘。</a:t>
            </a:r>
            <a:endParaRPr sz="1725" b="0">
              <a:solidFill>
                <a:srgbClr val="18342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47700" y="552450"/>
            <a:ext cx="838200" cy="47625"/>
          </a:xfrm>
          <a:prstGeom prst="rect">
            <a:avLst/>
          </a:prstGeom>
          <a:solidFill>
            <a:srgbClr val="B18A54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0896600" y="45720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18A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</a:t>
            </a:r>
            <a:endParaRPr sz="1200" b="1">
              <a:solidFill>
                <a:srgbClr val="B18A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314450"/>
            <a:ext cx="1038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1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交付内容由使用证据、评测结果与处置路径共同构成。</a:t>
            </a:r>
            <a:endParaRPr sz="315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300990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DCE9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DCE9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数据资产清单  ·  受控评测基准  ·  可解释算法  ·  产品原型  ·  申报材料</a:t>
            </a:r>
            <a:endParaRPr sz="1800" b="0">
              <a:solidFill>
                <a:srgbClr val="DCE9E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704850" y="3905250"/>
            <a:ext cx="7429500" cy="0"/>
          </a:xfrm>
          <a:prstGeom prst="line">
            <a:avLst/>
          </a:prstGeom>
          <a:noFill/>
          <a:ln w="9525">
            <a:solidFill>
              <a:srgbClr val="6E8B7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4324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B18A5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B18A5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请求评审关注：</a:t>
            </a:r>
            <a:endParaRPr sz="1500" b="1">
              <a:solidFill>
                <a:srgbClr val="B18A5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857500" y="43243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真实平台试点所需条件</a:t>
            </a:r>
            <a:endParaRPr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55245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</a:t>
            </a:r>
            <a:endParaRPr sz="21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0" y="55816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75" b="0">
                <a:solidFill>
                  <a:srgbClr val="C6D5C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C6D5C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TrustData / E2</a:t>
            </a:r>
            <a:endParaRPr sz="1275" b="0">
              <a:solidFill>
                <a:srgbClr val="C6D5C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1981</Words>
  <Application>WPS 演示</Application>
  <PresentationFormat>Converted Presentation</PresentationFormat>
  <Paragraphs>284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杜静伊</cp:lastModifiedBy>
  <cp:revision>5</cp:revision>
  <dcterms:created xsi:type="dcterms:W3CDTF">2026-08-31T14:02:21Z</dcterms:created>
  <dcterms:modified xsi:type="dcterms:W3CDTF">2026-08-31T14:08:53Z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396091D750C8488BBC2B53D33E13C540_12</vt:lpwstr>
  </property>
</Properties>
</file>